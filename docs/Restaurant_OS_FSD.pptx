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0 shows Restaurant OS as a single process and every outside party that exchanges data with it. Customers, staff and riders use the React screens; Foodpanda, the payment gateway, FBR and WhatsApp connect through adapters.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Level 1 decomposes process 0 into seven processes. Orders (D2) drive the kitchen, delivery, billing and stock; invoices (D3) drive loyalty points and FBR; stock (D4) and reviews (D5) feed analytics. Customer ratings arrive through the tracking page and the WhatsApp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E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99F6E4"/>
                </a:solidFill>
                <a:latin typeface="Calibri"/>
              </a:rPr>
              <a:t>FUNCTIONAL SPECIFICATION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515600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Restaurant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000" b="0" i="0">
                <a:solidFill>
                  <a:srgbClr val="D1FAF5"/>
                </a:solidFill>
                <a:latin typeface="Calibri"/>
              </a:rPr>
              <a:t>Automate the restaurant from one screen — orders, kitchen, riders, stock,</a:t>
            </a:r>
          </a:p>
          <a:p>
            <a:pPr algn="l"/>
            <a:r>
              <a:rPr sz="2000" b="0" i="0">
                <a:solidFill>
                  <a:srgbClr val="D1FAF5"/>
                </a:solidFill>
                <a:latin typeface="Calibri"/>
              </a:rPr>
              <a:t>reviews and reports on ERPNext v16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5156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Includes Data Flow Diagrams — Level 0 (context) and Level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7315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Version 1.0  ·  21 October 2026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Demo company: Saffron Grill (SGR) · Main branch: Gulberg, Lahore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5669280"/>
            <a:ext cx="34747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400" b="0" i="0">
                <a:solidFill>
                  <a:srgbClr val="FFFFFF"/>
                </a:solidFill>
                <a:latin typeface="Calibri"/>
              </a:rPr>
              <a:t>App: restaurant_os</a:t>
            </a:r>
          </a:p>
          <a:p>
            <a:pPr algn="r"/>
            <a:r>
              <a:rPr sz="1400" b="0" i="0">
                <a:solidFill>
                  <a:srgbClr val="FFFFFF"/>
                </a:solidFill>
                <a:latin typeface="Calibri"/>
              </a:rPr>
              <a:t>Site: restaurant.localhost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ABOUT THIS 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Document control &amp;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5120639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749039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Document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Functional Specification (FSD)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1.0 — all 11 build phases complete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Date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21 October 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OS (Frappe app restaurant_os)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ERPNext v16 · Frappe v16 · React 18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Built, tested (37 automated tests)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Audience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Owner, managers, implementers, developers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26480" y="123444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1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Purpose, scope and users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2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System overview and the nine-step flow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3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Data Flow Diagram — Level 0 (context)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4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Data Flow Diagram — Level 1 (processes and data stores)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5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Functional requirements by module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6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Order state machine and business rules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7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Integrations, security and audit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8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Non-functional requirements and measured results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9 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Acceptance criteria and open items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1 ·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Purpose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This document specifies what Restaurant OS does: the functions each user gets, the data that moves between them, and the rules the system enforces. It describes the system as built and tested.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57400"/>
            <a:ext cx="5486400" cy="411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In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Orders from POS counter, dine-in tables, website / app, self-order kiosk, phone and Foodpanda — one queue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Kitchen Display (KDS) by station; table map for dine-in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Own riders and Foodpanda riders; live tracking; cash on delivery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POS shifts, payments (cash, card, bank, online), FBR invoice reporting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Recipe-based stock deduction, wastage, variance, auto-reorder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Offers, coupons, loyalty points, reviews, campaigns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Owner dashboard and reports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057400"/>
            <a:ext cx="5440680" cy="41148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Out of scope (this version)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560320"/>
            <a:ext cx="54406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Payroll and HR beyond rider check-in (standard ERPNext HRMS)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Kitchen printer auto-routing per station (field exists; awaits hardware)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Live provider calls for Foodpanda, WhatsApp, payment gateway, FBR — built as adapters in Mock mode until credentials arrive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Docker deployment — not required (owner decision); production via bench</a:t>
            </a:r>
          </a:p>
          <a:p>
            <a:pPr>
              <a:spcAft>
                <a:spcPts val="4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Table reservations and online pre-booking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2 ·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One system, nine automatic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  <p:sp>
        <p:nvSpPr>
          <p:cNvPr id="7" name="Pentagon 6"/>
          <p:cNvSpPr/>
          <p:nvPr/>
        </p:nvSpPr>
        <p:spPr>
          <a:xfrm>
            <a:off x="502920" y="1463040"/>
            <a:ext cx="1161288" cy="1143000"/>
          </a:xfrm>
          <a:prstGeom prst="homePlate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1572768"/>
            <a:ext cx="88696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38528"/>
            <a:ext cx="88696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Warehouse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10" name="Chevron 9"/>
          <p:cNvSpPr/>
          <p:nvPr/>
        </p:nvSpPr>
        <p:spPr>
          <a:xfrm>
            <a:off x="1773936" y="1463040"/>
            <a:ext cx="1161288" cy="1143000"/>
          </a:xfrm>
          <a:prstGeom prst="chevron">
            <a:avLst/>
          </a:prstGeom>
          <a:solidFill>
            <a:srgbClr val="0B5E57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38528" y="1572768"/>
            <a:ext cx="88696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38528" y="1938528"/>
            <a:ext cx="88696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Kitchen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inventory</a:t>
            </a:r>
          </a:p>
        </p:txBody>
      </p:sp>
      <p:sp>
        <p:nvSpPr>
          <p:cNvPr id="13" name="Chevron 12"/>
          <p:cNvSpPr/>
          <p:nvPr/>
        </p:nvSpPr>
        <p:spPr>
          <a:xfrm>
            <a:off x="3044952" y="1463040"/>
            <a:ext cx="1161288" cy="114300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9544" y="1572768"/>
            <a:ext cx="88696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1938528"/>
            <a:ext cx="88696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Order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placed</a:t>
            </a:r>
          </a:p>
        </p:txBody>
      </p:sp>
      <p:sp>
        <p:nvSpPr>
          <p:cNvPr id="16" name="Chevron 15"/>
          <p:cNvSpPr/>
          <p:nvPr/>
        </p:nvSpPr>
        <p:spPr>
          <a:xfrm>
            <a:off x="4315968" y="1463040"/>
            <a:ext cx="1161288" cy="1143000"/>
          </a:xfrm>
          <a:prstGeom prst="chevron">
            <a:avLst/>
          </a:prstGeom>
          <a:solidFill>
            <a:srgbClr val="0B5E57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572768"/>
            <a:ext cx="88696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1938528"/>
            <a:ext cx="88696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Kitchen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display</a:t>
            </a:r>
          </a:p>
        </p:txBody>
      </p:sp>
      <p:sp>
        <p:nvSpPr>
          <p:cNvPr id="19" name="Chevron 18"/>
          <p:cNvSpPr/>
          <p:nvPr/>
        </p:nvSpPr>
        <p:spPr>
          <a:xfrm>
            <a:off x="5586984" y="1463040"/>
            <a:ext cx="1161288" cy="114300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51576" y="1572768"/>
            <a:ext cx="88696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51576" y="1938528"/>
            <a:ext cx="88696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Rider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notified</a:t>
            </a:r>
          </a:p>
        </p:txBody>
      </p:sp>
      <p:sp>
        <p:nvSpPr>
          <p:cNvPr id="22" name="Chevron 21"/>
          <p:cNvSpPr/>
          <p:nvPr/>
        </p:nvSpPr>
        <p:spPr>
          <a:xfrm>
            <a:off x="6858000" y="1463040"/>
            <a:ext cx="1161288" cy="1143000"/>
          </a:xfrm>
          <a:prstGeom prst="chevron">
            <a:avLst/>
          </a:prstGeom>
          <a:solidFill>
            <a:srgbClr val="0B5E57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22592" y="1572768"/>
            <a:ext cx="88696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22592" y="1938528"/>
            <a:ext cx="88696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8129016" y="1463040"/>
            <a:ext cx="1161288" cy="114300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93608" y="1572768"/>
            <a:ext cx="88696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8" y="1938528"/>
            <a:ext cx="88696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28" name="Chevron 27"/>
          <p:cNvSpPr/>
          <p:nvPr/>
        </p:nvSpPr>
        <p:spPr>
          <a:xfrm>
            <a:off x="9400032" y="1463040"/>
            <a:ext cx="1161288" cy="1143000"/>
          </a:xfrm>
          <a:prstGeom prst="chevron">
            <a:avLst/>
          </a:prstGeom>
          <a:solidFill>
            <a:srgbClr val="0B5E57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64624" y="1572768"/>
            <a:ext cx="88696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4624" y="1938528"/>
            <a:ext cx="88696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Stock</a:t>
            </a:r>
          </a:p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auto-update</a:t>
            </a:r>
          </a:p>
        </p:txBody>
      </p:sp>
      <p:sp>
        <p:nvSpPr>
          <p:cNvPr id="31" name="Chevron 30"/>
          <p:cNvSpPr/>
          <p:nvPr/>
        </p:nvSpPr>
        <p:spPr>
          <a:xfrm>
            <a:off x="10671048" y="1463040"/>
            <a:ext cx="1161288" cy="1143000"/>
          </a:xfrm>
          <a:prstGeom prst="chevron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35640" y="1572768"/>
            <a:ext cx="886968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35640" y="1938528"/>
            <a:ext cx="886968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Reports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2880360"/>
            <a:ext cx="640080" cy="347472"/>
          </a:xfrm>
          <a:prstGeom prst="rect">
            <a:avLst/>
          </a:prstGeom>
          <a:solidFill>
            <a:srgbClr val="E6F6F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0B5E57"/>
                </a:solidFill>
                <a:latin typeface="Calibri"/>
              </a:rPr>
              <a:t>1–2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80160" y="2880360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Central Store and each branch kitchen are ERPNext warehouses; ingredients carry reorder levels on both.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310128"/>
            <a:ext cx="640080" cy="347472"/>
          </a:xfrm>
          <a:prstGeom prst="rect">
            <a:avLst/>
          </a:prstGeom>
          <a:solidFill>
            <a:srgbClr val="E6F6F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0B5E57"/>
                </a:solidFill>
                <a:latin typeface="Calibri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3310128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Every channel creates a Restaurant Order with the channel, type (dine-in, takeaway, delivery, pickup) and lines routed to stations.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3739896"/>
            <a:ext cx="640080" cy="347472"/>
          </a:xfrm>
          <a:prstGeom prst="rect">
            <a:avLst/>
          </a:prstGeom>
          <a:solidFill>
            <a:srgbClr val="E6F6F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0B5E57"/>
                </a:solidFill>
                <a:latin typeface="Calibri"/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3739896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The order appears on the KDS instantly (Socket.IO); cooks bump lines, the card moves Placed → Preparing → Ready.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4169664"/>
            <a:ext cx="640080" cy="347472"/>
          </a:xfrm>
          <a:prstGeom prst="rect">
            <a:avLst/>
          </a:prstGeom>
          <a:solidFill>
            <a:srgbClr val="E6F6F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0B5E57"/>
                </a:solidFill>
                <a:latin typeface="Calibri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4169664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At Ready, a delivery is offered to the nearest free rider (or assigned from the KDS / dispatch map).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599432"/>
            <a:ext cx="640080" cy="347472"/>
          </a:xfrm>
          <a:prstGeom prst="rect">
            <a:avLst/>
          </a:prstGeom>
          <a:solidFill>
            <a:srgbClr val="E6F6F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0B5E57"/>
                </a:solidFill>
                <a:latin typeface="Calibr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80160" y="4599432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Rider picks up, delivers with the customer's 4-digit code, collects cash; the invoice is made at delivery.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029200"/>
            <a:ext cx="640080" cy="347472"/>
          </a:xfrm>
          <a:prstGeom prst="rect">
            <a:avLst/>
          </a:prstGeom>
          <a:solidFill>
            <a:srgbClr val="E6F6F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0B5E57"/>
                </a:solidFill>
                <a:latin typeface="Calibri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5029200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The customer rates the order from the tracking link; low ratings alert managers.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5458968"/>
            <a:ext cx="640080" cy="347472"/>
          </a:xfrm>
          <a:prstGeom prst="rect">
            <a:avLst/>
          </a:prstGeom>
          <a:solidFill>
            <a:srgbClr val="E6F6F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0B5E57"/>
                </a:solidFill>
                <a:latin typeface="Calibri"/>
              </a:rPr>
              <a:t>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5458968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When the food leaves the kitchen, the dish recipes (BOM) are issued from the kitchen warehouse; below reorder level ERPNext raises a Material Request.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5888736"/>
            <a:ext cx="640080" cy="347472"/>
          </a:xfrm>
          <a:prstGeom prst="rect">
            <a:avLst/>
          </a:prstGeom>
          <a:solidFill>
            <a:srgbClr val="E6F6F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0B5E57"/>
                </a:solidFill>
                <a:latin typeface="Calibri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5888736"/>
            <a:ext cx="1042416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Calibri"/>
              </a:rPr>
              <a:t>Sales, kitchen times, menu engineering, customers, variance — live dashboard and reports.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1 ·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Users, devices and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18872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377440"/>
                <a:gridCol w="4480560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User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Device / screen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Main tasks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Access rule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Cashier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Counter PC — POS terminal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Open / close shift, sell, hold, return*, cash in/out, receive stock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On the counter's POS Profile user list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Waiter / host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Tablet — Table map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Seat guests, send rounds to kitchen, move table, settle bill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Order write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Kitchen staff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Wall screen — KDS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See tickets by station, bump lines, recall, assign rider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Order read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Dispatcher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PC — Dispatch map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Phone orders, assign riders, collect rider cash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Order write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Rider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Phone — Rider app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Go on duty, accept / reject, pick up, deliver (code, photo, cash)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Own deliveries only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Phone / web — Ordering site, tracking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Order, pay, track rider, rate order, earn points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Public, rate limited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Walk-in guest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Tablet — Kiosk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Self-order; pay at counter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Public, rate limited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Manager / owner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Any — Dashboard, reports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Approve big discounts &amp; returns, reviews, campaigns, settings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System / Sales / Accounts Manager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978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* Returns and cashier discounts above 10% need a manager's sign-in at the terminal.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2 · 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System overview — how the parts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11155680" cy="1051560"/>
          </a:xfrm>
          <a:prstGeom prst="rect">
            <a:avLst/>
          </a:prstGeom>
          <a:solidFill>
            <a:srgbClr val="EAF2FC"/>
          </a:solidFill>
          <a:ln w="15875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8930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2A78D6"/>
                </a:solidFill>
                <a:latin typeface="Calibri"/>
              </a:rPr>
              <a:t>Users' screens (React, one app at /ros)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1848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POS terminal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3966" y="161848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Table map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7852" y="161848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KDS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61738" y="161848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Dispatch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5624" y="161848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Rider app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09510" y="161848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Ordering site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83396" y="161848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Kiosk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57282" y="161848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Owner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468880"/>
            <a:ext cx="11155680" cy="1051560"/>
          </a:xfrm>
          <a:prstGeom prst="rect">
            <a:avLst/>
          </a:prstGeom>
          <a:solidFill>
            <a:srgbClr val="E6F6F4"/>
          </a:solidFill>
          <a:ln w="15875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52374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B5E57"/>
                </a:solidFill>
                <a:latin typeface="Calibri"/>
              </a:rPr>
              <a:t>restaurant_os — custom Frappe app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5292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Order service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13966" y="285292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KDS &amp; tables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7852" y="285292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Riders &amp; tracking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61738" y="285292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Stock deduction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35624" y="285292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Loyalty &amp; reviews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9510" y="285292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Analytics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83396" y="285292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Approvals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57282" y="285292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Health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03320"/>
            <a:ext cx="11155680" cy="1051560"/>
          </a:xfrm>
          <a:prstGeom prst="rect">
            <a:avLst/>
          </a:prstGeom>
          <a:solidFill>
            <a:srgbClr val="F8FAFC"/>
          </a:solidFill>
          <a:ln w="15875">
            <a:solidFill>
              <a:srgbClr val="64748B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75818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ERPNext v16 + POS Awesome + HRMS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08736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POS Invoice / Sales Invoice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3966" y="408736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POS Shifts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7852" y="408736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Offers &amp; Coupons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61738" y="408736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BOM / Stock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35624" y="408736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Material Request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09510" y="408736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Loyalty Program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83396" y="408736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Employee Checkin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257282" y="4087368"/>
            <a:ext cx="1264158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Payment Entry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937760"/>
            <a:ext cx="11155680" cy="1051560"/>
          </a:xfrm>
          <a:prstGeom prst="rect">
            <a:avLst/>
          </a:prstGeom>
          <a:solidFill>
            <a:srgbClr val="FDF0E9"/>
          </a:solidFill>
          <a:ln w="15875">
            <a:solidFill>
              <a:srgbClr val="EA6834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992624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EA6834"/>
                </a:solidFill>
                <a:latin typeface="Calibri"/>
              </a:rPr>
              <a:t>Integration adapters (Mock ↔ Live)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21808"/>
            <a:ext cx="26380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A6834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Foodpanda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87852" y="5321808"/>
            <a:ext cx="26380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A6834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Payment gateway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35624" y="5321808"/>
            <a:ext cx="26380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A6834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WhatsApp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83396" y="5321808"/>
            <a:ext cx="2638044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A6834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1E293B"/>
                </a:solidFill>
                <a:latin typeface="Calibri"/>
              </a:rPr>
              <a:t>FBR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6172200"/>
            <a:ext cx="111556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Live updates travel over Socket.IO (KDS, tables, dispatch, rider location). Background jobs run on Frappe workers in production.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3 · DFD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Data Flow Diagram notation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2194560" cy="82296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External 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46304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A person or outside system that sends data in or receives data out (customer, rider, Foodpanda, FBR).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606040"/>
            <a:ext cx="2194560" cy="822960"/>
          </a:xfrm>
          <a:prstGeom prst="roundRect">
            <a:avLst/>
          </a:prstGeom>
          <a:solidFill>
            <a:srgbClr val="E6F6F4"/>
          </a:solidFill>
          <a:ln w="22225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0D9488"/>
                </a:solidFill>
                <a:latin typeface="Calibri"/>
              </a:rPr>
              <a:t>2.0</a:t>
            </a:r>
          </a:p>
          <a:p>
            <a:pPr algn="ctr"/>
            <a:r>
              <a:rPr sz="1300" b="1" i="0">
                <a:solidFill>
                  <a:srgbClr val="0B5E57"/>
                </a:solidFill>
                <a:latin typeface="Calibri"/>
              </a:rPr>
              <a:t>Process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260604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Work the system does that changes data. Numbered: 0 for the whole system (Level 0), 1.0 … 7.0 in Level 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794760"/>
            <a:ext cx="2194560" cy="685800"/>
          </a:xfrm>
          <a:prstGeom prst="rect">
            <a:avLst/>
          </a:prstGeom>
          <a:solidFill>
            <a:srgbClr val="FDF0E9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794760"/>
            <a:ext cx="457200" cy="685800"/>
          </a:xfrm>
          <a:prstGeom prst="rect">
            <a:avLst/>
          </a:prstGeom>
          <a:solidFill>
            <a:srgbClr val="EA683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794760"/>
            <a:ext cx="1691640" cy="6858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Data store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1520" y="3794760"/>
            <a:ext cx="2194560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31520" y="4480560"/>
            <a:ext cx="2194560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108960" y="3749039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Data at rest — mapped to ERPNext / restaurant_os DocTypes (e.g. D2 Restaurant Orders).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5120640"/>
            <a:ext cx="2011680" cy="0"/>
          </a:xfrm>
          <a:prstGeom prst="line">
            <a:avLst/>
          </a:prstGeom>
          <a:ln w="22225">
            <a:solidFill>
              <a:srgbClr val="1E293B"/>
            </a:solidFill>
            <a:tailEnd type="triangle" w="med" len="med"/>
          </a:ln>
        </p:spPr>
      </p:cxnSp>
      <p:sp>
        <p:nvSpPr>
          <p:cNvPr id="18" name="TextBox 17"/>
          <p:cNvSpPr txBox="1"/>
          <p:nvPr/>
        </p:nvSpPr>
        <p:spPr>
          <a:xfrm>
            <a:off x="1005840" y="47548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Calibri"/>
              </a:rPr>
              <a:t>data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484632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400" b="0" i="0">
                <a:solidFill>
                  <a:srgbClr val="1E293B"/>
                </a:solidFill>
                <a:latin typeface="Calibri"/>
              </a:rPr>
              <a:t>Data moving between entities, processes and stores; the label names the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3 · DFD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DFD Level 0 — context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27448" y="1188720"/>
            <a:ext cx="2743200" cy="4892040"/>
          </a:xfrm>
          <a:prstGeom prst="roundRect">
            <a:avLst/>
          </a:prstGeom>
          <a:solidFill>
            <a:srgbClr val="0D9488"/>
          </a:solidFill>
          <a:ln w="254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27448" y="297180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3383280"/>
            <a:ext cx="2743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Restaurant 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8888" y="3886200"/>
            <a:ext cx="256032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100" b="0" i="0">
                <a:solidFill>
                  <a:srgbClr val="CCFBF1"/>
                </a:solidFill>
                <a:latin typeface="Calibri"/>
              </a:rPr>
              <a:t>orders · kitchen · delivery</a:t>
            </a:r>
          </a:p>
          <a:p>
            <a:pPr algn="ctr"/>
            <a:r>
              <a:rPr sz="1100" b="0" i="0">
                <a:solidFill>
                  <a:srgbClr val="CCFBF1"/>
                </a:solidFill>
                <a:latin typeface="Calibri"/>
              </a:rPr>
              <a:t>billing · stock · loyalty · reports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325880"/>
            <a:ext cx="1828800" cy="73152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Customer</a:t>
            </a:r>
          </a:p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web · app · kiosk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1591056"/>
            <a:ext cx="2487168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 flipH="1">
            <a:off x="2240280" y="1792224"/>
            <a:ext cx="2487168" cy="0"/>
          </a:xfrm>
          <a:prstGeom prst="line">
            <a:avLst/>
          </a:prstGeom>
          <a:ln w="19050">
            <a:solidFill>
              <a:srgbClr val="0D9488"/>
            </a:solidFill>
            <a:tailEnd type="triangle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2331720" y="1316736"/>
            <a:ext cx="2304288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order, payment, rating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1819656"/>
            <a:ext cx="2304288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B5E57"/>
                </a:solidFill>
                <a:latin typeface="Calibri"/>
              </a:rPr>
              <a:t>quote, tracking, receipt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532888"/>
            <a:ext cx="1828800" cy="73152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Cashier / Waiter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240280" y="2798064"/>
            <a:ext cx="2487168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 flipH="1">
            <a:off x="2240280" y="2999232"/>
            <a:ext cx="2487168" cy="0"/>
          </a:xfrm>
          <a:prstGeom prst="line">
            <a:avLst/>
          </a:prstGeom>
          <a:ln w="19050">
            <a:solidFill>
              <a:srgbClr val="0D9488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2331720" y="2523744"/>
            <a:ext cx="2304288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sale, shift, cash, table rounds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026664"/>
            <a:ext cx="2304288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B5E57"/>
                </a:solidFill>
                <a:latin typeface="Calibri"/>
              </a:rPr>
              <a:t>receipt, bill, Z-report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739896"/>
            <a:ext cx="1828800" cy="73152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Kitchen staff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40280" y="4005072"/>
            <a:ext cx="2487168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 flipH="1">
            <a:off x="2240280" y="4206240"/>
            <a:ext cx="2487168" cy="0"/>
          </a:xfrm>
          <a:prstGeom prst="line">
            <a:avLst/>
          </a:prstGeom>
          <a:ln w="19050">
            <a:solidFill>
              <a:srgbClr val="0D9488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2331720" y="3730752"/>
            <a:ext cx="2304288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bump, recall, rider pick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4233672"/>
            <a:ext cx="2304288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B5E57"/>
                </a:solidFill>
                <a:latin typeface="Calibri"/>
              </a:rPr>
              <a:t>tickets by station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4946904"/>
            <a:ext cx="1828800" cy="73152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Rider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240280" y="5212080"/>
            <a:ext cx="2487168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</p:cxnSp>
      <p:cxnSp>
        <p:nvCxnSpPr>
          <p:cNvPr id="28" name="Connector 27"/>
          <p:cNvCxnSpPr/>
          <p:nvPr/>
        </p:nvCxnSpPr>
        <p:spPr>
          <a:xfrm flipH="1">
            <a:off x="2240280" y="5413248"/>
            <a:ext cx="2487168" cy="0"/>
          </a:xfrm>
          <a:prstGeom prst="line">
            <a:avLst/>
          </a:prstGeom>
          <a:ln w="19050">
            <a:solidFill>
              <a:srgbClr val="0D9488"/>
            </a:solidFill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2331720" y="4937760"/>
            <a:ext cx="2304288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duty, GPS, delivered + cash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5440680"/>
            <a:ext cx="2304288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B5E57"/>
                </a:solidFill>
                <a:latin typeface="Calibri"/>
              </a:rPr>
              <a:t>delivery offer, route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948672" y="1234440"/>
            <a:ext cx="1828800" cy="658368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Manager / Owner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470648" y="1463040"/>
            <a:ext cx="247802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>
            <a:off x="7470648" y="1664208"/>
            <a:ext cx="2478024" cy="0"/>
          </a:xfrm>
          <a:prstGeom prst="line">
            <a:avLst/>
          </a:prstGeom>
          <a:ln w="19050">
            <a:solidFill>
              <a:srgbClr val="0D9488"/>
            </a:solidFill>
            <a:tailEnd type="triangle" w="med" len="med"/>
          </a:ln>
        </p:spPr>
      </p:cxnSp>
      <p:sp>
        <p:nvSpPr>
          <p:cNvPr id="34" name="TextBox 33"/>
          <p:cNvSpPr txBox="1"/>
          <p:nvPr/>
        </p:nvSpPr>
        <p:spPr>
          <a:xfrm>
            <a:off x="7562088" y="1188720"/>
            <a:ext cx="2295144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settings, approvals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62088" y="1691640"/>
            <a:ext cx="2295144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B5E57"/>
                </a:solidFill>
                <a:latin typeface="Calibri"/>
              </a:rPr>
              <a:t>dashboard, alerts, reports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48672" y="2221992"/>
            <a:ext cx="1828800" cy="658368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Foodpanda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7470648" y="2450592"/>
            <a:ext cx="247802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</p:cxnSp>
      <p:cxnSp>
        <p:nvCxnSpPr>
          <p:cNvPr id="38" name="Connector 37"/>
          <p:cNvCxnSpPr/>
          <p:nvPr/>
        </p:nvCxnSpPr>
        <p:spPr>
          <a:xfrm>
            <a:off x="7470648" y="2651760"/>
            <a:ext cx="2478024" cy="0"/>
          </a:xfrm>
          <a:prstGeom prst="line">
            <a:avLst/>
          </a:prstGeom>
          <a:ln w="19050">
            <a:solidFill>
              <a:srgbClr val="0D9488"/>
            </a:solidFill>
            <a:tailEnd type="triangle" w="med" len="med"/>
          </a:ln>
        </p:spPr>
      </p:cxnSp>
      <p:sp>
        <p:nvSpPr>
          <p:cNvPr id="39" name="TextBox 38"/>
          <p:cNvSpPr txBox="1"/>
          <p:nvPr/>
        </p:nvSpPr>
        <p:spPr>
          <a:xfrm>
            <a:off x="7562088" y="2176272"/>
            <a:ext cx="2295144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orders (webhook)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62088" y="2679192"/>
            <a:ext cx="2295144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B5E57"/>
                </a:solidFill>
                <a:latin typeface="Calibri"/>
              </a:rPr>
              <a:t>status, availability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948672" y="3209544"/>
            <a:ext cx="1828800" cy="658368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Payment gateway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7470648" y="3438144"/>
            <a:ext cx="247802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</p:cxnSp>
      <p:cxnSp>
        <p:nvCxnSpPr>
          <p:cNvPr id="43" name="Connector 42"/>
          <p:cNvCxnSpPr/>
          <p:nvPr/>
        </p:nvCxnSpPr>
        <p:spPr>
          <a:xfrm>
            <a:off x="7470648" y="3639312"/>
            <a:ext cx="2478024" cy="0"/>
          </a:xfrm>
          <a:prstGeom prst="line">
            <a:avLst/>
          </a:prstGeom>
          <a:ln w="19050">
            <a:solidFill>
              <a:srgbClr val="0D9488"/>
            </a:solidFill>
            <a:tailEnd type="triangle" w="med" len="med"/>
          </a:ln>
        </p:spPr>
      </p:cxnSp>
      <p:sp>
        <p:nvSpPr>
          <p:cNvPr id="44" name="TextBox 43"/>
          <p:cNvSpPr txBox="1"/>
          <p:nvPr/>
        </p:nvSpPr>
        <p:spPr>
          <a:xfrm>
            <a:off x="7562088" y="3163824"/>
            <a:ext cx="2295144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paid / failed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2088" y="3666744"/>
            <a:ext cx="2295144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B5E57"/>
                </a:solidFill>
                <a:latin typeface="Calibri"/>
              </a:rPr>
              <a:t>payment session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948672" y="4197096"/>
            <a:ext cx="1828800" cy="658368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FBR (tax)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7470648" y="4425696"/>
            <a:ext cx="247802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</p:cxnSp>
      <p:cxnSp>
        <p:nvCxnSpPr>
          <p:cNvPr id="48" name="Connector 47"/>
          <p:cNvCxnSpPr/>
          <p:nvPr/>
        </p:nvCxnSpPr>
        <p:spPr>
          <a:xfrm>
            <a:off x="7470648" y="4626864"/>
            <a:ext cx="2478024" cy="0"/>
          </a:xfrm>
          <a:prstGeom prst="line">
            <a:avLst/>
          </a:prstGeom>
          <a:ln w="19050">
            <a:solidFill>
              <a:srgbClr val="0D9488"/>
            </a:solidFill>
            <a:tailEnd type="triangle" w="med" len="med"/>
          </a:ln>
        </p:spPr>
      </p:cxnSp>
      <p:sp>
        <p:nvSpPr>
          <p:cNvPr id="49" name="TextBox 48"/>
          <p:cNvSpPr txBox="1"/>
          <p:nvPr/>
        </p:nvSpPr>
        <p:spPr>
          <a:xfrm>
            <a:off x="7562088" y="4151376"/>
            <a:ext cx="2295144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FBR invoice no. + QR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62088" y="4654296"/>
            <a:ext cx="2295144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B5E57"/>
                </a:solidFill>
                <a:latin typeface="Calibri"/>
              </a:rPr>
              <a:t>invoice data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48672" y="5184648"/>
            <a:ext cx="1828800" cy="658368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WhatsApp / SMS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7470648" y="5413248"/>
            <a:ext cx="2478024" cy="0"/>
          </a:xfrm>
          <a:prstGeom prst="line">
            <a:avLst/>
          </a:prstGeom>
          <a:ln w="19050">
            <a:solidFill>
              <a:srgbClr val="64748B"/>
            </a:solidFill>
            <a:tailEnd type="triangle" w="med" len="med"/>
          </a:ln>
        </p:spPr>
      </p:cxnSp>
      <p:cxnSp>
        <p:nvCxnSpPr>
          <p:cNvPr id="53" name="Connector 52"/>
          <p:cNvCxnSpPr/>
          <p:nvPr/>
        </p:nvCxnSpPr>
        <p:spPr>
          <a:xfrm>
            <a:off x="7470648" y="5614416"/>
            <a:ext cx="2478024" cy="0"/>
          </a:xfrm>
          <a:prstGeom prst="line">
            <a:avLst/>
          </a:prstGeom>
          <a:ln w="19050">
            <a:solidFill>
              <a:srgbClr val="0D9488"/>
            </a:solidFill>
            <a:tailEnd type="triangle" w="med" len="med"/>
          </a:ln>
        </p:spPr>
      </p:cxnSp>
      <p:sp>
        <p:nvSpPr>
          <p:cNvPr id="54" name="TextBox 53"/>
          <p:cNvSpPr txBox="1"/>
          <p:nvPr/>
        </p:nvSpPr>
        <p:spPr>
          <a:xfrm>
            <a:off x="7562088" y="5138928"/>
            <a:ext cx="2295144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1E293B"/>
                </a:solidFill>
                <a:latin typeface="Calibri"/>
              </a:rPr>
              <a:t>delivery reports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62088" y="5641848"/>
            <a:ext cx="2295144" cy="23774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000" b="0" i="0">
                <a:solidFill>
                  <a:srgbClr val="0B5E57"/>
                </a:solidFill>
                <a:latin typeface="Calibri"/>
              </a:rPr>
              <a:t>review link, campaign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" y="6199632"/>
            <a:ext cx="822960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1">
                <a:solidFill>
                  <a:srgbClr val="64748B"/>
                </a:solidFill>
                <a:latin typeface="Calibri"/>
              </a:rPr>
              <a:t>Grey arrows: data into the system  ·  Teal arrows: data out of the system  ·  Blue boxes: external entities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3 · DFD — PROCESSES AND DATA STORES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DFD Level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417320"/>
            <a:ext cx="1874519" cy="713232"/>
          </a:xfrm>
          <a:prstGeom prst="roundRect">
            <a:avLst/>
          </a:prstGeom>
          <a:solidFill>
            <a:srgbClr val="E6F6F4"/>
          </a:solidFill>
          <a:ln w="22225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0D9488"/>
                </a:solidFill>
                <a:latin typeface="Calibri"/>
              </a:rPr>
              <a:t>1.0</a:t>
            </a:r>
          </a:p>
          <a:p>
            <a:pPr algn="ctr"/>
            <a:r>
              <a:rPr sz="1300" b="1" i="0">
                <a:solidFill>
                  <a:srgbClr val="0B5E57"/>
                </a:solidFill>
                <a:latin typeface="Calibri"/>
              </a:rPr>
              <a:t>Capture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66360" y="1417320"/>
            <a:ext cx="1874519" cy="713232"/>
          </a:xfrm>
          <a:prstGeom prst="roundRect">
            <a:avLst/>
          </a:prstGeom>
          <a:solidFill>
            <a:srgbClr val="E6F6F4"/>
          </a:solidFill>
          <a:ln w="22225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0D9488"/>
                </a:solidFill>
                <a:latin typeface="Calibri"/>
              </a:rPr>
              <a:t>2.0</a:t>
            </a:r>
          </a:p>
          <a:p>
            <a:pPr algn="ctr"/>
            <a:r>
              <a:rPr sz="1300" b="1" i="0">
                <a:solidFill>
                  <a:srgbClr val="0B5E57"/>
                </a:solidFill>
                <a:latin typeface="Calibri"/>
              </a:rPr>
              <a:t>Kitchen (KDS)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1417320"/>
            <a:ext cx="1874519" cy="713232"/>
          </a:xfrm>
          <a:prstGeom prst="roundRect">
            <a:avLst/>
          </a:prstGeom>
          <a:solidFill>
            <a:srgbClr val="E6F6F4"/>
          </a:solidFill>
          <a:ln w="22225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0D9488"/>
                </a:solidFill>
                <a:latin typeface="Calibri"/>
              </a:rPr>
              <a:t>3.0</a:t>
            </a:r>
          </a:p>
          <a:p>
            <a:pPr algn="ctr"/>
            <a:r>
              <a:rPr sz="1300" b="1" i="0">
                <a:solidFill>
                  <a:srgbClr val="0B5E57"/>
                </a:solidFill>
                <a:latin typeface="Calibri"/>
              </a:rPr>
              <a:t>Deliver &amp; track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31720" y="3310128"/>
            <a:ext cx="1874519" cy="713232"/>
          </a:xfrm>
          <a:prstGeom prst="roundRect">
            <a:avLst/>
          </a:prstGeom>
          <a:solidFill>
            <a:srgbClr val="E6F6F4"/>
          </a:solidFill>
          <a:ln w="22225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0D9488"/>
                </a:solidFill>
                <a:latin typeface="Calibri"/>
              </a:rPr>
              <a:t>4.0</a:t>
            </a:r>
          </a:p>
          <a:p>
            <a:pPr algn="ctr"/>
            <a:r>
              <a:rPr sz="1300" b="1" i="0">
                <a:solidFill>
                  <a:srgbClr val="0B5E57"/>
                </a:solidFill>
                <a:latin typeface="Calibri"/>
              </a:rPr>
              <a:t>Bill, pay, report tax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66360" y="3310128"/>
            <a:ext cx="1874519" cy="713232"/>
          </a:xfrm>
          <a:prstGeom prst="roundRect">
            <a:avLst/>
          </a:prstGeom>
          <a:solidFill>
            <a:srgbClr val="E6F6F4"/>
          </a:solidFill>
          <a:ln w="22225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0D9488"/>
                </a:solidFill>
                <a:latin typeface="Calibri"/>
              </a:rPr>
              <a:t>5.0</a:t>
            </a:r>
          </a:p>
          <a:p>
            <a:pPr algn="ctr"/>
            <a:r>
              <a:rPr sz="1300" b="1" i="0">
                <a:solidFill>
                  <a:srgbClr val="0B5E57"/>
                </a:solidFill>
                <a:latin typeface="Calibri"/>
              </a:rPr>
              <a:t>Issue stock &amp; reorder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310128"/>
            <a:ext cx="1874519" cy="713232"/>
          </a:xfrm>
          <a:prstGeom prst="roundRect">
            <a:avLst/>
          </a:prstGeom>
          <a:solidFill>
            <a:srgbClr val="E6F6F4"/>
          </a:solidFill>
          <a:ln w="22225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0D9488"/>
                </a:solidFill>
                <a:latin typeface="Calibri"/>
              </a:rPr>
              <a:t>6.0</a:t>
            </a:r>
          </a:p>
          <a:p>
            <a:pPr algn="ctr"/>
            <a:r>
              <a:rPr sz="1300" b="1" i="0">
                <a:solidFill>
                  <a:srgbClr val="0B5E57"/>
                </a:solidFill>
                <a:latin typeface="Calibri"/>
              </a:rPr>
              <a:t>Reviews &amp; loyalty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66360" y="5440680"/>
            <a:ext cx="1874519" cy="713232"/>
          </a:xfrm>
          <a:prstGeom prst="roundRect">
            <a:avLst/>
          </a:prstGeom>
          <a:solidFill>
            <a:srgbClr val="E6F6F4"/>
          </a:solidFill>
          <a:ln w="22225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000" b="1" i="0">
                <a:solidFill>
                  <a:srgbClr val="0D9488"/>
                </a:solidFill>
                <a:latin typeface="Calibri"/>
              </a:rPr>
              <a:t>7.0</a:t>
            </a:r>
          </a:p>
          <a:p>
            <a:pPr algn="ctr"/>
            <a:r>
              <a:rPr sz="1300" b="1" i="0">
                <a:solidFill>
                  <a:srgbClr val="0B5E57"/>
                </a:solidFill>
                <a:latin typeface="Calibri"/>
              </a:rPr>
              <a:t>Analyse &amp; report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31720" y="2487168"/>
            <a:ext cx="1874519" cy="384048"/>
          </a:xfrm>
          <a:prstGeom prst="rect">
            <a:avLst/>
          </a:prstGeom>
          <a:solidFill>
            <a:srgbClr val="FDF0E9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331720" y="2487168"/>
            <a:ext cx="457200" cy="384048"/>
          </a:xfrm>
          <a:prstGeom prst="rect">
            <a:avLst/>
          </a:prstGeom>
          <a:solidFill>
            <a:srgbClr val="EA683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2487168"/>
            <a:ext cx="1371599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Restaurant Orders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331720" y="2487168"/>
            <a:ext cx="1874519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331720" y="2871216"/>
            <a:ext cx="1874519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166360" y="2487168"/>
            <a:ext cx="1874519" cy="384048"/>
          </a:xfrm>
          <a:prstGeom prst="rect">
            <a:avLst/>
          </a:prstGeom>
          <a:solidFill>
            <a:srgbClr val="FDF0E9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66360" y="2487168"/>
            <a:ext cx="457200" cy="384048"/>
          </a:xfrm>
          <a:prstGeom prst="rect">
            <a:avLst/>
          </a:prstGeom>
          <a:solidFill>
            <a:srgbClr val="EA683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487168"/>
            <a:ext cx="1371599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Menu &amp; recipes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66360" y="2487168"/>
            <a:ext cx="1874519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166360" y="2871216"/>
            <a:ext cx="1874519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001000" y="2487168"/>
            <a:ext cx="1874519" cy="384048"/>
          </a:xfrm>
          <a:prstGeom prst="rect">
            <a:avLst/>
          </a:prstGeom>
          <a:solidFill>
            <a:srgbClr val="FDF0E9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01000" y="2487168"/>
            <a:ext cx="457200" cy="384048"/>
          </a:xfrm>
          <a:prstGeom prst="rect">
            <a:avLst/>
          </a:prstGeom>
          <a:solidFill>
            <a:srgbClr val="EA683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487168"/>
            <a:ext cx="1371599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Riders, assignments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01000" y="2487168"/>
            <a:ext cx="1874519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001000" y="2871216"/>
            <a:ext cx="1874519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2331720" y="4434840"/>
            <a:ext cx="1874519" cy="384048"/>
          </a:xfrm>
          <a:prstGeom prst="rect">
            <a:avLst/>
          </a:prstGeom>
          <a:solidFill>
            <a:srgbClr val="FDF0E9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331720" y="4434840"/>
            <a:ext cx="457200" cy="384048"/>
          </a:xfrm>
          <a:prstGeom prst="rect">
            <a:avLst/>
          </a:prstGeom>
          <a:solidFill>
            <a:srgbClr val="EA683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34640" y="4434840"/>
            <a:ext cx="1371599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Invoices, payments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331720" y="4434840"/>
            <a:ext cx="1874519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331720" y="4818888"/>
            <a:ext cx="1874519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166360" y="4709160"/>
            <a:ext cx="1874519" cy="384048"/>
          </a:xfrm>
          <a:prstGeom prst="rect">
            <a:avLst/>
          </a:prstGeom>
          <a:solidFill>
            <a:srgbClr val="FDF0E9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166360" y="4709160"/>
            <a:ext cx="457200" cy="384048"/>
          </a:xfrm>
          <a:prstGeom prst="rect">
            <a:avLst/>
          </a:prstGeom>
          <a:solidFill>
            <a:srgbClr val="EA683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0" y="4709160"/>
            <a:ext cx="1371599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Stock ledger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166360" y="4709160"/>
            <a:ext cx="1874519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166360" y="5093208"/>
            <a:ext cx="1874519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001000" y="4434840"/>
            <a:ext cx="1874519" cy="384048"/>
          </a:xfrm>
          <a:prstGeom prst="rect">
            <a:avLst/>
          </a:prstGeom>
          <a:solidFill>
            <a:srgbClr val="FDF0E9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01000" y="4434840"/>
            <a:ext cx="457200" cy="384048"/>
          </a:xfrm>
          <a:prstGeom prst="rect">
            <a:avLst/>
          </a:prstGeom>
          <a:solidFill>
            <a:srgbClr val="EA6834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03920" y="4434840"/>
            <a:ext cx="1371599" cy="3840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1100" b="1" i="0">
                <a:solidFill>
                  <a:srgbClr val="1E293B"/>
                </a:solidFill>
                <a:latin typeface="Calibri"/>
              </a:rPr>
              <a:t>Customers, points, reviews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001000" y="4434840"/>
            <a:ext cx="1874519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001000" y="4818888"/>
            <a:ext cx="1874519" cy="0"/>
          </a:xfrm>
          <a:prstGeom prst="line">
            <a:avLst/>
          </a:prstGeom>
          <a:ln w="19050">
            <a:solidFill>
              <a:srgbClr val="EA683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274320" y="1051560"/>
            <a:ext cx="1600200" cy="50292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Customer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1737360"/>
            <a:ext cx="1600200" cy="50292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Cashier / Waiter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2423160"/>
            <a:ext cx="1600200" cy="50292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Foodpanda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3154680"/>
            <a:ext cx="1600200" cy="50292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Payment gateway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3840480"/>
            <a:ext cx="1600200" cy="50292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FBR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566928"/>
            <a:ext cx="1600200" cy="41148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Kitchen staff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87000" y="1371600"/>
            <a:ext cx="1600200" cy="50292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Rider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287000" y="2743200"/>
            <a:ext cx="1600200" cy="50292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WhatsApp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01000" y="5532120"/>
            <a:ext cx="1874520" cy="50292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Manager / Owner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5532120"/>
            <a:ext cx="1874520" cy="502920"/>
          </a:xfrm>
          <a:prstGeom prst="rect">
            <a:avLst/>
          </a:prstGeom>
          <a:solidFill>
            <a:srgbClr val="EAF2FC"/>
          </a:solidFill>
          <a:ln w="19050">
            <a:solidFill>
              <a:srgbClr val="2A78D6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1E293B"/>
                </a:solidFill>
                <a:latin typeface="Calibri"/>
              </a:rPr>
              <a:t>Supplier / Store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874520" y="1303020"/>
            <a:ext cx="457200" cy="25146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55" name="TextBox 54"/>
          <p:cNvSpPr txBox="1"/>
          <p:nvPr/>
        </p:nvSpPr>
        <p:spPr>
          <a:xfrm>
            <a:off x="1892808" y="1046988"/>
            <a:ext cx="45720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cart</a:t>
            </a:r>
          </a:p>
        </p:txBody>
      </p:sp>
      <p:cxnSp>
        <p:nvCxnSpPr>
          <p:cNvPr id="56" name="Connector 55"/>
          <p:cNvCxnSpPr/>
          <p:nvPr/>
        </p:nvCxnSpPr>
        <p:spPr>
          <a:xfrm flipV="1">
            <a:off x="1874520" y="1911096"/>
            <a:ext cx="457200" cy="77724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57" name="TextBox 56"/>
          <p:cNvSpPr txBox="1"/>
          <p:nvPr/>
        </p:nvSpPr>
        <p:spPr>
          <a:xfrm>
            <a:off x="1828800" y="2007108"/>
            <a:ext cx="73152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sale, rounds</a:t>
            </a:r>
          </a:p>
        </p:txBody>
      </p:sp>
      <p:cxnSp>
        <p:nvCxnSpPr>
          <p:cNvPr id="58" name="Connector 57"/>
          <p:cNvCxnSpPr/>
          <p:nvPr/>
        </p:nvCxnSpPr>
        <p:spPr>
          <a:xfrm flipV="1">
            <a:off x="1874520" y="2130552"/>
            <a:ext cx="731520" cy="544068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59" name="TextBox 58"/>
          <p:cNvSpPr txBox="1"/>
          <p:nvPr/>
        </p:nvSpPr>
        <p:spPr>
          <a:xfrm>
            <a:off x="1856232" y="2692908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FP order</a:t>
            </a:r>
          </a:p>
        </p:txBody>
      </p:sp>
      <p:cxnSp>
        <p:nvCxnSpPr>
          <p:cNvPr id="60" name="Connector 59"/>
          <p:cNvCxnSpPr/>
          <p:nvPr/>
        </p:nvCxnSpPr>
        <p:spPr>
          <a:xfrm flipH="1" flipV="1">
            <a:off x="1874520" y="1161288"/>
            <a:ext cx="6492240" cy="256032"/>
          </a:xfrm>
          <a:prstGeom prst="line">
            <a:avLst/>
          </a:prstGeom>
          <a:ln w="15875">
            <a:solidFill>
              <a:srgbClr val="0D9488"/>
            </a:solidFill>
            <a:tailEnd type="triangle" w="med" len="med"/>
          </a:ln>
        </p:spPr>
      </p:cxnSp>
      <p:sp>
        <p:nvSpPr>
          <p:cNvPr id="61" name="TextBox 60"/>
          <p:cNvSpPr txBox="1"/>
          <p:nvPr/>
        </p:nvSpPr>
        <p:spPr>
          <a:xfrm>
            <a:off x="6903720" y="1051560"/>
            <a:ext cx="82296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B5E57"/>
                </a:solidFill>
                <a:latin typeface="Calibri"/>
              </a:rPr>
              <a:t>live tracking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3268979" y="2130552"/>
            <a:ext cx="0" cy="356616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63" name="TextBox 62"/>
          <p:cNvSpPr txBox="1"/>
          <p:nvPr/>
        </p:nvSpPr>
        <p:spPr>
          <a:xfrm>
            <a:off x="2400299" y="2203704"/>
            <a:ext cx="68580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new order</a:t>
            </a:r>
          </a:p>
        </p:txBody>
      </p:sp>
      <p:cxnSp>
        <p:nvCxnSpPr>
          <p:cNvPr id="64" name="Connector 63"/>
          <p:cNvCxnSpPr/>
          <p:nvPr/>
        </p:nvCxnSpPr>
        <p:spPr>
          <a:xfrm flipH="1" flipV="1">
            <a:off x="4069079" y="2130552"/>
            <a:ext cx="1097281" cy="402336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65" name="TextBox 64"/>
          <p:cNvSpPr txBox="1"/>
          <p:nvPr/>
        </p:nvSpPr>
        <p:spPr>
          <a:xfrm>
            <a:off x="4480560" y="2185416"/>
            <a:ext cx="45720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prices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4206239" y="1773936"/>
            <a:ext cx="960121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67" name="TextBox 66"/>
          <p:cNvSpPr txBox="1"/>
          <p:nvPr/>
        </p:nvSpPr>
        <p:spPr>
          <a:xfrm>
            <a:off x="4480559" y="1517904"/>
            <a:ext cx="54864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ticket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103620" y="978408"/>
            <a:ext cx="0" cy="438912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  <a:headEnd type="triangle" w="med" len="med"/>
          </a:ln>
        </p:spPr>
      </p:cxnSp>
      <p:sp>
        <p:nvSpPr>
          <p:cNvPr id="69" name="TextBox 68"/>
          <p:cNvSpPr txBox="1"/>
          <p:nvPr/>
        </p:nvSpPr>
        <p:spPr>
          <a:xfrm>
            <a:off x="6195060" y="1024128"/>
            <a:ext cx="100584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tickets ⇄ bumps</a:t>
            </a:r>
          </a:p>
        </p:txBody>
      </p:sp>
      <p:cxnSp>
        <p:nvCxnSpPr>
          <p:cNvPr id="70" name="Connector 69"/>
          <p:cNvCxnSpPr/>
          <p:nvPr/>
        </p:nvCxnSpPr>
        <p:spPr>
          <a:xfrm flipH="1">
            <a:off x="4023359" y="2130552"/>
            <a:ext cx="1280161" cy="356616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71" name="TextBox 70"/>
          <p:cNvSpPr txBox="1"/>
          <p:nvPr/>
        </p:nvSpPr>
        <p:spPr>
          <a:xfrm>
            <a:off x="4983480" y="2331720"/>
            <a:ext cx="45720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status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7040879" y="1773936"/>
            <a:ext cx="960121" cy="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73" name="TextBox 72"/>
          <p:cNvSpPr txBox="1"/>
          <p:nvPr/>
        </p:nvSpPr>
        <p:spPr>
          <a:xfrm>
            <a:off x="7178039" y="1517904"/>
            <a:ext cx="86868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ready delivery</a:t>
            </a:r>
          </a:p>
        </p:txBody>
      </p:sp>
      <p:cxnSp>
        <p:nvCxnSpPr>
          <p:cNvPr id="74" name="Connector 73"/>
          <p:cNvCxnSpPr/>
          <p:nvPr/>
        </p:nvCxnSpPr>
        <p:spPr>
          <a:xfrm flipV="1">
            <a:off x="9875519" y="1513332"/>
            <a:ext cx="411481" cy="150876"/>
          </a:xfrm>
          <a:prstGeom prst="line">
            <a:avLst/>
          </a:prstGeom>
          <a:ln w="15875">
            <a:solidFill>
              <a:srgbClr val="0D9488"/>
            </a:solidFill>
            <a:tailEnd type="triangle" w="med" len="med"/>
          </a:ln>
        </p:spPr>
      </p:cxnSp>
      <p:sp>
        <p:nvSpPr>
          <p:cNvPr id="75" name="TextBox 74"/>
          <p:cNvSpPr txBox="1"/>
          <p:nvPr/>
        </p:nvSpPr>
        <p:spPr>
          <a:xfrm>
            <a:off x="9921239" y="1408176"/>
            <a:ext cx="41148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B5E57"/>
                </a:solidFill>
                <a:latin typeface="Calibri"/>
              </a:rPr>
              <a:t>offer</a:t>
            </a:r>
          </a:p>
        </p:txBody>
      </p:sp>
      <p:cxnSp>
        <p:nvCxnSpPr>
          <p:cNvPr id="76" name="Connector 75"/>
          <p:cNvCxnSpPr/>
          <p:nvPr/>
        </p:nvCxnSpPr>
        <p:spPr>
          <a:xfrm flipH="1">
            <a:off x="9875519" y="1732788"/>
            <a:ext cx="411481" cy="150876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77" name="TextBox 76"/>
          <p:cNvSpPr txBox="1"/>
          <p:nvPr/>
        </p:nvSpPr>
        <p:spPr>
          <a:xfrm>
            <a:off x="9829799" y="1920240"/>
            <a:ext cx="91440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GPS, code, cash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8938259" y="2130552"/>
            <a:ext cx="0" cy="356616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  <a:headEnd type="triangle" w="med" len="med"/>
          </a:ln>
        </p:spPr>
      </p:cxnSp>
      <p:cxnSp>
        <p:nvCxnSpPr>
          <p:cNvPr id="79" name="Connector 78"/>
          <p:cNvCxnSpPr/>
          <p:nvPr/>
        </p:nvCxnSpPr>
        <p:spPr>
          <a:xfrm>
            <a:off x="3268979" y="2871216"/>
            <a:ext cx="0" cy="438912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80" name="TextBox 79"/>
          <p:cNvSpPr txBox="1"/>
          <p:nvPr/>
        </p:nvSpPr>
        <p:spPr>
          <a:xfrm>
            <a:off x="3314699" y="2980944"/>
            <a:ext cx="96012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completed order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874520" y="3406140"/>
            <a:ext cx="457200" cy="169164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82" name="TextBox 81"/>
          <p:cNvSpPr txBox="1"/>
          <p:nvPr/>
        </p:nvSpPr>
        <p:spPr>
          <a:xfrm>
            <a:off x="1892808" y="3150108"/>
            <a:ext cx="68580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paid / failed</a:t>
            </a:r>
          </a:p>
        </p:txBody>
      </p:sp>
      <p:cxnSp>
        <p:nvCxnSpPr>
          <p:cNvPr id="83" name="Connector 82"/>
          <p:cNvCxnSpPr/>
          <p:nvPr/>
        </p:nvCxnSpPr>
        <p:spPr>
          <a:xfrm flipH="1">
            <a:off x="1874520" y="3867912"/>
            <a:ext cx="457200" cy="224028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  <a:headEnd type="triangle" w="med" len="med"/>
          </a:ln>
        </p:spPr>
      </p:cxnSp>
      <p:sp>
        <p:nvSpPr>
          <p:cNvPr id="84" name="TextBox 83"/>
          <p:cNvSpPr txBox="1"/>
          <p:nvPr/>
        </p:nvSpPr>
        <p:spPr>
          <a:xfrm>
            <a:off x="1828800" y="4119372"/>
            <a:ext cx="96012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invoice ⇄ FBR no.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268979" y="4023360"/>
            <a:ext cx="0" cy="41148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86" name="TextBox 85"/>
          <p:cNvSpPr txBox="1"/>
          <p:nvPr/>
        </p:nvSpPr>
        <p:spPr>
          <a:xfrm>
            <a:off x="3314699" y="4133088"/>
            <a:ext cx="96012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invoice, payment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3931919" y="2871216"/>
            <a:ext cx="1508761" cy="438912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88" name="TextBox 87"/>
          <p:cNvSpPr txBox="1"/>
          <p:nvPr/>
        </p:nvSpPr>
        <p:spPr>
          <a:xfrm>
            <a:off x="4251959" y="3145536"/>
            <a:ext cx="100584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food left kitchen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6103619" y="2871216"/>
            <a:ext cx="0" cy="438912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90" name="TextBox 89"/>
          <p:cNvSpPr txBox="1"/>
          <p:nvPr/>
        </p:nvSpPr>
        <p:spPr>
          <a:xfrm>
            <a:off x="6149339" y="2944368"/>
            <a:ext cx="45720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recipe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6103619" y="4023360"/>
            <a:ext cx="0" cy="68580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92" name="TextBox 91"/>
          <p:cNvSpPr txBox="1"/>
          <p:nvPr/>
        </p:nvSpPr>
        <p:spPr>
          <a:xfrm>
            <a:off x="6149339" y="4315968"/>
            <a:ext cx="86868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issue, wastage</a:t>
            </a:r>
          </a:p>
        </p:txBody>
      </p:sp>
      <p:cxnSp>
        <p:nvCxnSpPr>
          <p:cNvPr id="93" name="Connector 92"/>
          <p:cNvCxnSpPr/>
          <p:nvPr/>
        </p:nvCxnSpPr>
        <p:spPr>
          <a:xfrm flipH="1">
            <a:off x="2148840" y="4992624"/>
            <a:ext cx="3017520" cy="630936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94" name="TextBox 93"/>
          <p:cNvSpPr txBox="1"/>
          <p:nvPr/>
        </p:nvSpPr>
        <p:spPr>
          <a:xfrm>
            <a:off x="2057400" y="5166360"/>
            <a:ext cx="96012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reorder request</a:t>
            </a:r>
          </a:p>
        </p:txBody>
      </p:sp>
      <p:cxnSp>
        <p:nvCxnSpPr>
          <p:cNvPr id="95" name="Connector 94"/>
          <p:cNvCxnSpPr/>
          <p:nvPr/>
        </p:nvCxnSpPr>
        <p:spPr>
          <a:xfrm flipV="1">
            <a:off x="4206239" y="4023360"/>
            <a:ext cx="3886201" cy="557784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96" name="TextBox 95"/>
          <p:cNvSpPr txBox="1"/>
          <p:nvPr/>
        </p:nvSpPr>
        <p:spPr>
          <a:xfrm>
            <a:off x="7132320" y="4105656"/>
            <a:ext cx="96012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invoice → points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8938259" y="4023360"/>
            <a:ext cx="0" cy="41148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  <a:headEnd type="triangle" w="med" len="med"/>
          </a:ln>
        </p:spPr>
      </p:cxnSp>
      <p:cxnSp>
        <p:nvCxnSpPr>
          <p:cNvPr id="98" name="Connector 97"/>
          <p:cNvCxnSpPr/>
          <p:nvPr/>
        </p:nvCxnSpPr>
        <p:spPr>
          <a:xfrm flipV="1">
            <a:off x="9875519" y="2994660"/>
            <a:ext cx="411481" cy="580644"/>
          </a:xfrm>
          <a:prstGeom prst="line">
            <a:avLst/>
          </a:prstGeom>
          <a:ln w="15875">
            <a:solidFill>
              <a:srgbClr val="0D9488"/>
            </a:solidFill>
            <a:tailEnd type="triangle" w="med" len="med"/>
          </a:ln>
        </p:spPr>
      </p:cxnSp>
      <p:sp>
        <p:nvSpPr>
          <p:cNvPr id="99" name="TextBox 98"/>
          <p:cNvSpPr txBox="1"/>
          <p:nvPr/>
        </p:nvSpPr>
        <p:spPr>
          <a:xfrm>
            <a:off x="9921239" y="3227832"/>
            <a:ext cx="73152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B5E57"/>
                </a:solidFill>
                <a:latin typeface="Calibri"/>
              </a:rPr>
              <a:t>review link</a:t>
            </a:r>
          </a:p>
        </p:txBody>
      </p:sp>
      <p:cxnSp>
        <p:nvCxnSpPr>
          <p:cNvPr id="100" name="Connector 99"/>
          <p:cNvCxnSpPr/>
          <p:nvPr/>
        </p:nvCxnSpPr>
        <p:spPr>
          <a:xfrm flipH="1">
            <a:off x="9875519" y="3246120"/>
            <a:ext cx="685801" cy="585216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101" name="TextBox 100"/>
          <p:cNvSpPr txBox="1"/>
          <p:nvPr/>
        </p:nvSpPr>
        <p:spPr>
          <a:xfrm>
            <a:off x="10012679" y="3849624"/>
            <a:ext cx="45720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rating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3268979" y="4818888"/>
            <a:ext cx="1897381" cy="886968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cxnSp>
        <p:nvCxnSpPr>
          <p:cNvPr id="103" name="Connector 102"/>
          <p:cNvCxnSpPr/>
          <p:nvPr/>
        </p:nvCxnSpPr>
        <p:spPr>
          <a:xfrm>
            <a:off x="6103619" y="5093208"/>
            <a:ext cx="0" cy="347472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cxnSp>
        <p:nvCxnSpPr>
          <p:cNvPr id="104" name="Connector 103"/>
          <p:cNvCxnSpPr/>
          <p:nvPr/>
        </p:nvCxnSpPr>
        <p:spPr>
          <a:xfrm flipH="1">
            <a:off x="7040879" y="4818888"/>
            <a:ext cx="1897380" cy="758952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cxnSp>
        <p:nvCxnSpPr>
          <p:cNvPr id="105" name="Connector 104"/>
          <p:cNvCxnSpPr/>
          <p:nvPr/>
        </p:nvCxnSpPr>
        <p:spPr>
          <a:xfrm flipV="1">
            <a:off x="7040879" y="5783580"/>
            <a:ext cx="960121" cy="150876"/>
          </a:xfrm>
          <a:prstGeom prst="line">
            <a:avLst/>
          </a:prstGeom>
          <a:ln w="15875">
            <a:solidFill>
              <a:srgbClr val="0D9488"/>
            </a:solidFill>
            <a:tailEnd type="triangle" w="med" len="med"/>
          </a:ln>
        </p:spPr>
      </p:cxnSp>
      <p:sp>
        <p:nvSpPr>
          <p:cNvPr id="106" name="TextBox 105"/>
          <p:cNvSpPr txBox="1"/>
          <p:nvPr/>
        </p:nvSpPr>
        <p:spPr>
          <a:xfrm>
            <a:off x="7132319" y="5980176"/>
            <a:ext cx="1051560" cy="219456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0B5E57"/>
                </a:solidFill>
                <a:latin typeface="Calibri"/>
              </a:rPr>
              <a:t>dashboard, reports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29600" y="6263640"/>
            <a:ext cx="36576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1">
                <a:solidFill>
                  <a:srgbClr val="64748B"/>
                </a:solidFill>
                <a:latin typeface="Calibri"/>
              </a:rPr>
              <a:t>Orange: data stores (D1–D6) · Teal boxes: processes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3 · DFD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Level 1 processes — inputs, outputs and where they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43000"/>
          <a:ext cx="1143000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00400"/>
                <a:gridCol w="3108960"/>
                <a:gridCol w="310896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Inputs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Outputs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Implemented in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E293B"/>
                          </a:solidFill>
                          <a:latin typeface="Calibri"/>
                        </a:rPr>
                        <a:t>1.0 Capture order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Cart / counter sale / table round / Foodpanda order / phone order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Order (D2), KDS ticket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api.pos, api.online, api.tables, api.riders.new_delivery_order, aggregators.foodpanda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E293B"/>
                          </a:solidFill>
                          <a:latin typeface="Calibri"/>
                        </a:rPr>
                        <a:t>2.0 Kitchen (KDS)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Tickets by station; cook bumps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Line &amp; order status, Ready event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api.kds, services.orders (state machine)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E293B"/>
                          </a:solidFill>
                          <a:latin typeface="Calibri"/>
                        </a:rPr>
                        <a:t>3.0 Deliver &amp; track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Ready delivery, rider GPS, delivery code, cash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Offer, assignment (D6), tracking page, COD into Rider Cash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services.riders, api.riders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E293B"/>
                          </a:solidFill>
                          <a:latin typeface="Calibri"/>
                        </a:rPr>
                        <a:t>4.0 Bill, pay &amp; report tax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Completed order, payments, gateway result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POS / Sales Invoice, Payment Entry (D3), FBR invoice no. + QR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api.pos, services.delivery, services.payments, integrations.tax_authority.fbr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E293B"/>
                          </a:solidFill>
                          <a:latin typeface="Calibri"/>
                        </a:rPr>
                        <a:t>5.0 Issue stock &amp; reorder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Order left kitchen, recipe (D1), wastage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Stock Entry (D4), sold-out flags, Material Request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services.stock_deduction, services.availability, ERPNext reorder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E293B"/>
                          </a:solidFill>
                          <a:latin typeface="Calibri"/>
                        </a:rPr>
                        <a:t>6.0 Reviews &amp; loyalty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Invoice, rating, campaign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Loyalty points, Order Review, alerts, messages (D5)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services.loyalty, services.reviews, services.campaigns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1E293B"/>
                          </a:solidFill>
                          <a:latin typeface="Calibri"/>
                        </a:rPr>
                        <a:t>7.0 Analyse &amp; report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D2–D5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Owner dashboard, 5 script reports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 i="0">
                          <a:solidFill>
                            <a:srgbClr val="1E293B"/>
                          </a:solidFill>
                          <a:latin typeface="Calibri"/>
                        </a:rPr>
                        <a:t>services.analytics, report/*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3 · DFD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Data stores — mapped to DocTypes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43000"/>
          <a:ext cx="1143000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6126480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Store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Holds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DocTypes (ERPNext standard / restaurant_os custom)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D1 Menu, recipes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Dishes, prices, add-ons, recipes, stations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Item, Item Price, BOM · Menu Modifier Group, Kitchen Station, Restaurant Branch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D2 Restaurant Orders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Every order from every channel and its lines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Order (+ Item) · Restaurant Table, Floor Area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D3 Invoices &amp; payments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Bills, tenders, shifts, FBR numbers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POS Invoice, Sales Invoice, Payment Entry, POS Opening / Closing Shift, POS Cash Movement, Integration Request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D4 Stock ledger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Ingredient moves and counts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Stock Entry, Stock Ledger Entry, Bin, Stock Reconciliation, Material Request · Wastage Log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D5 Customers, points, reviews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Profiles, loyalty, ratings, campaigns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Customer, Loyalty Program, Loyalty Point Entry · Order Review, Restaurant Campaign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D6 Riders &amp; assignments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Riders, duty, offers, GPS trail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Employee, Employee Checkin · Rider, Delivery Assignment, Rider Location Log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5 ·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Order capture — every channel in one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FR-1.1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POS counter sale creates the kitchen order on invoice submit (channel POS)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FR-1.2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Dine-in: seat a table, send rounds (marked “+ New Items” on the KDS), move table, settle one bill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FR-1.3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Website / installable app: menu with add-ons, sold-out hiding, delivery pin on map, delivery radius and minimum order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FR-1.4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Kiosk: self-order, idle reset; waits as a held sale until the cashier takes payment (channel Kiosk)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FR-1.5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Phone order: dispatcher enters customer, address and pin; cash on delivery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FR-1.6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Foodpanda: webhook (signed) or simulator; invoiced when delivered; Foodpanda price list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FR-1.7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Idempotent: a repeated post (client UUID / Foodpanda id) never creates a second order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FR-1.8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Quote = invoice: the customer sees exactly what will be billed (offers, tax, delivery fee, points)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5 ·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POS terminal, shifts and payments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FR-2.1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Open shift with counted float per payment mode; close with counted cash, variance, Z-report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FR-2.2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Sell by touch / barcode / keyboard; hold &amp; resume; split tender Cash → Card → Bank Transfer; credit sale for named customers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FR-2.3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Offline: sales queue on the device and sync once, idempotently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FR-2.4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Sales tax 18% (on top of or included in price, by setting); FBR service fee line; FBR invoice no. and QR on receipt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FR-2.5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Returns (whole / part) refund through the chosen mode — manager approval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FR-2.6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Cashier discounts above 10% of the bill — manager approval; offers / coupons are pre-approved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FR-2.7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Cash in / out (expense, deposit, customer receipt), stock receiving at the counter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FR-2.8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Receipt: company logo, 80 / 58 mm or A4, auto-print option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5 ·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Kitchen display and dine-in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FR-3.1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Board columns Placed → Preparing → Ready → Completed, live over Socket.IO, filter by station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FR-3.2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Bump a line or the whole card; recall; print ticket; age colours (amber / red minutes) and sound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FR-3.3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Lines no station makes (delivery fee) never hold an order back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FR-3.4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Delivery cards show the rider; “Assign rider” lists on-duty riders and off-duty riders (check in &amp; assign)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FR-3.5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Table map by floor area: free / occupied / bill, guests, running total; settle produces one invoice for the sitting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5 ·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Delivery, riders and 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FR-4.1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Rider goes on / off duty = HR Employee Checkin (with GPS position)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FR-4.2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At Ready, the order is offered to the nearest (or least busy) free rider; reject → next rider; manual mode available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FR-4.3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Rider app: accept, navigate, pick up, deliver with the customer's 4-digit code or photo, collect cash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FR-4.4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Cash collected sits in Rider Cash until handed over at the counter (journal into the open shift)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FR-4.5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Dispatch map: riders and orders on OpenStreetMap, ETA, assign / reassign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FR-4.6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Customer tracking page: steps, ETA, rider on map, delivery code, pay-now for failed online payments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FR-4.7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Foodpanda-rider orders are tracked from Foodpanda's rider updates (own riders are not offered them)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5 ·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Online payment, offers, loyalty, reviews, campaigns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FR-5.1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Online payment through a gateway adapter; unpaid orders stay off the KDS; paid orders need nothing collected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FR-5.2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POS Offers apply on every channel (e.g. free Raita with Karahi); promo codes (POS Coupon) at checkout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FR-5.3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Saffron Rewards: 1 point per Rs 100, 1 point = Rs 1, 365-day expiry; customers with a mobile enrolled automatically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FR-5.4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Points redeemable at the counter and online (lower COD / online charge)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FR-5.5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After delivery, the tracking page asks for stars (overall, food, delivery, each dish) and a comment; WhatsApp link after a delay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FR-5.6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Rating at or below 2 stars notifies managers and shows on the dashboard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FR-5.7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Campaigns to Lapsed / New / Top spenders / Everyone with {name} {restaurant} {coupon} {link}; preview, then send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5 ·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Inventory, recipes and procurement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FR-6.1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Each dish has a BOM recipe; add-ons that are items become their own lines and recipes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FR-6.2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When food leaves the kitchen (Completed / Picked Up / Delivered) the recipe is issued from the branch kitchen warehouse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FR-6.3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Failed issues are logged and retried hourly; never block the sale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FR-6.4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Sold-out: an ingredient running out hides affected dishes on the web, kiosk and POS (and Foodpanda)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FR-6.5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Wastage Log with reason → Material Issue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FR-6.6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Variance report: theoretical (recipes) vs actual (counts) per ingredient, branch, period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FR-6.7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Reorder levels on Central Store (purchase) and kitchen (transfer) → Material Requests → Purchase Orders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5 · FUNCTIONAL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Owner dashboard and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FR-7.1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Live dashboard: today vs yesterday (net, orders, ticket, food cost %), hourly sales, channels, top items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FR-7.2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Open orders and late tickets, kitchen load by station, tables, riders, deliveries waiting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FR-7.3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Low stock, sold-out dishes, wastage today, alerts (late orders, waiting deliveries, low ratings)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FR-7.4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Reviews panel: 7-day average, recent reviews, low &amp; unanswered</a:t>
            </a:r>
          </a:p>
          <a:p>
            <a:pPr>
              <a:spcAft>
                <a:spcPts val="900"/>
              </a:spcAft>
            </a:pPr>
            <a:r>
              <a:rPr sz="15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500" b="1" i="0">
                <a:solidFill>
                  <a:srgbClr val="1E293B"/>
                </a:solidFill>
                <a:latin typeface="Calibri"/>
              </a:rPr>
              <a:t>FR-7.5 </a:t>
            </a:r>
            <a:r>
              <a:rPr sz="1500" b="0" i="0">
                <a:solidFill>
                  <a:srgbClr val="1E293B"/>
                </a:solidFill>
                <a:latin typeface="Calibri"/>
              </a:rPr>
              <a:t> Reports: Restaurant Sales Analysis (by channel, branch, item, category, hour, day part, cashier), Kitchen Performance, Menu Engineering, Customer Insights, Ingredient Variance — in React and the desk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6 ·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Order state machine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1371600" cy="640080"/>
          </a:xfrm>
          <a:prstGeom prst="roundRect">
            <a:avLst/>
          </a:prstGeom>
          <a:solidFill>
            <a:srgbClr val="E6F6F4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0B5E57"/>
                </a:solidFill>
                <a:latin typeface="Calibri"/>
              </a:rPr>
              <a:t>Placed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7400" y="1828800"/>
            <a:ext cx="1371600" cy="640080"/>
          </a:xfrm>
          <a:prstGeom prst="roundRect">
            <a:avLst/>
          </a:prstGeom>
          <a:solidFill>
            <a:srgbClr val="E6F6F4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0B5E57"/>
                </a:solidFill>
                <a:latin typeface="Calibri"/>
              </a:rPr>
              <a:t>Accepted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1828800"/>
            <a:ext cx="1371600" cy="640080"/>
          </a:xfrm>
          <a:prstGeom prst="roundRect">
            <a:avLst/>
          </a:prstGeom>
          <a:solidFill>
            <a:srgbClr val="E6F6F4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0B5E57"/>
                </a:solidFill>
                <a:latin typeface="Calibri"/>
              </a:rPr>
              <a:t>Preparing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1828800"/>
            <a:ext cx="1371600" cy="640080"/>
          </a:xfrm>
          <a:prstGeom prst="roundRect">
            <a:avLst/>
          </a:prstGeom>
          <a:solidFill>
            <a:srgbClr val="E6F6F4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0B5E57"/>
                </a:solidFill>
                <a:latin typeface="Calibri"/>
              </a:rPr>
              <a:t>Ready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28800" y="2148840"/>
            <a:ext cx="228600" cy="0"/>
          </a:xfrm>
          <a:prstGeom prst="line">
            <a:avLst/>
          </a:prstGeom>
          <a:ln w="15875">
            <a:solidFill>
              <a:srgbClr val="1E293B"/>
            </a:solidFill>
            <a:tailEnd type="triangle" w="med" len="med"/>
          </a:ln>
        </p:spPr>
      </p:cxnSp>
      <p:cxnSp>
        <p:nvCxnSpPr>
          <p:cNvPr id="12" name="Connector 11"/>
          <p:cNvCxnSpPr/>
          <p:nvPr/>
        </p:nvCxnSpPr>
        <p:spPr>
          <a:xfrm>
            <a:off x="3429000" y="2148840"/>
            <a:ext cx="228600" cy="0"/>
          </a:xfrm>
          <a:prstGeom prst="line">
            <a:avLst/>
          </a:prstGeom>
          <a:ln w="15875">
            <a:solidFill>
              <a:srgbClr val="1E293B"/>
            </a:solidFill>
            <a:tailEnd type="triangle" w="med" len="med"/>
          </a:ln>
        </p:spPr>
      </p:cxnSp>
      <p:cxnSp>
        <p:nvCxnSpPr>
          <p:cNvPr id="13" name="Connector 12"/>
          <p:cNvCxnSpPr/>
          <p:nvPr/>
        </p:nvCxnSpPr>
        <p:spPr>
          <a:xfrm>
            <a:off x="5029200" y="2148840"/>
            <a:ext cx="228600" cy="0"/>
          </a:xfrm>
          <a:prstGeom prst="line">
            <a:avLst/>
          </a:prstGeom>
          <a:ln w="15875">
            <a:solidFill>
              <a:srgbClr val="1E293B"/>
            </a:solidFill>
            <a:tailEnd type="triangle" w="med" len="med"/>
          </a:ln>
        </p:spPr>
      </p:cxnSp>
      <p:sp>
        <p:nvSpPr>
          <p:cNvPr id="14" name="Rounded Rectangle 13"/>
          <p:cNvSpPr/>
          <p:nvPr/>
        </p:nvSpPr>
        <p:spPr>
          <a:xfrm>
            <a:off x="7315200" y="1051560"/>
            <a:ext cx="155448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Completed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2606040"/>
            <a:ext cx="1554480" cy="640080"/>
          </a:xfrm>
          <a:prstGeom prst="roundRect">
            <a:avLst/>
          </a:prstGeom>
          <a:solidFill>
            <a:srgbClr val="E6F6F4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0B5E57"/>
                </a:solidFill>
                <a:latin typeface="Calibri"/>
              </a:rPr>
              <a:t>Picked Up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3794760"/>
            <a:ext cx="1554480" cy="640080"/>
          </a:xfrm>
          <a:prstGeom prst="roundRect">
            <a:avLst/>
          </a:prstGeom>
          <a:solidFill>
            <a:srgbClr val="E6F6F4"/>
          </a:solidFill>
          <a:ln w="12700">
            <a:solidFill>
              <a:srgbClr val="0B5E57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0B5E57"/>
                </a:solidFill>
                <a:latin typeface="Calibri"/>
              </a:rPr>
              <a:t>Out for Delivery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0" y="3154680"/>
            <a:ext cx="1554480" cy="6400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Delivered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629400" y="1371600"/>
            <a:ext cx="685800" cy="64008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19" name="TextBox 18"/>
          <p:cNvSpPr txBox="1"/>
          <p:nvPr/>
        </p:nvSpPr>
        <p:spPr>
          <a:xfrm>
            <a:off x="5760720" y="1097280"/>
            <a:ext cx="164592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dine-in / takeaway / pickup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629400" y="2286000"/>
            <a:ext cx="685800" cy="64008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21" name="TextBox 20"/>
          <p:cNvSpPr txBox="1"/>
          <p:nvPr/>
        </p:nvSpPr>
        <p:spPr>
          <a:xfrm>
            <a:off x="6035040" y="2743200"/>
            <a:ext cx="164592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delivery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92440" y="3246120"/>
            <a:ext cx="0" cy="548640"/>
          </a:xfrm>
          <a:prstGeom prst="line">
            <a:avLst/>
          </a:prstGeom>
          <a:ln w="15875">
            <a:solidFill>
              <a:srgbClr val="1E293B"/>
            </a:solidFill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 flipV="1">
            <a:off x="8869680" y="3611880"/>
            <a:ext cx="822960" cy="50292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24" name="TextBox 23"/>
          <p:cNvSpPr txBox="1"/>
          <p:nvPr/>
        </p:nvSpPr>
        <p:spPr>
          <a:xfrm>
            <a:off x="8503920" y="3886200"/>
            <a:ext cx="164592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own rider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69680" y="2926080"/>
            <a:ext cx="822960" cy="41148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26" name="TextBox 25"/>
          <p:cNvSpPr txBox="1"/>
          <p:nvPr/>
        </p:nvSpPr>
        <p:spPr>
          <a:xfrm>
            <a:off x="8595360" y="2651760"/>
            <a:ext cx="164592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Foodpanda rider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108960"/>
            <a:ext cx="1371600" cy="640080"/>
          </a:xfrm>
          <a:prstGeom prst="roundRect">
            <a:avLst/>
          </a:prstGeom>
          <a:solidFill>
            <a:srgbClr val="FDF0E9"/>
          </a:solidFill>
          <a:ln w="12700">
            <a:solidFill>
              <a:srgbClr val="EA6834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200" b="1" i="0">
                <a:solidFill>
                  <a:srgbClr val="EA6834"/>
                </a:solidFill>
                <a:latin typeface="Calibri"/>
              </a:rPr>
              <a:t>Awaiting</a:t>
            </a:r>
          </a:p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Payment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1143000" y="2468880"/>
            <a:ext cx="0" cy="640080"/>
          </a:xfrm>
          <a:prstGeom prst="line">
            <a:avLst/>
          </a:prstGeom>
          <a:ln w="15875">
            <a:solidFill>
              <a:srgbClr val="64748B"/>
            </a:solidFill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1188720" y="2651760"/>
            <a:ext cx="1645920" cy="274320"/>
          </a:xfrm>
          <a:prstGeom prst="rect">
            <a:avLst/>
          </a:prstGeom>
          <a:solidFill>
            <a:srgbClr val="FFFFFF"/>
          </a:solidFill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900" b="0" i="0">
                <a:solidFill>
                  <a:srgbClr val="1E293B"/>
                </a:solidFill>
                <a:latin typeface="Calibri"/>
              </a:rPr>
              <a:t>paid online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0" y="3108960"/>
            <a:ext cx="2377440" cy="6400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</a:ln>
        </p:spPr>
        <p:txBody>
          <a:bodyPr rtlCol="0" anchor="ctr" wrap="square" lIns="54864" rIns="54864" tIns="27432" bIns="27432"/>
          <a:lstStyle/>
          <a:p>
            <a:pPr algn="ctr"/>
            <a:r>
              <a:rPr sz="1100" b="1" i="0">
                <a:solidFill>
                  <a:srgbClr val="64748B"/>
                </a:solidFill>
                <a:latin typeface="Calibri"/>
              </a:rPr>
              <a:t>Cancelled / Rejected / Returned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457200" y="4343400"/>
          <a:ext cx="65836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1089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Automatic step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Fires at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Offer to a rider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Ready (own-rider delivery)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Issue recipe ingredients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Completed / Picked Up / Delivered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Make invoice (web, phone, Foodpanda)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Delivered / Completed (counter: at sale)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Review link (WhatsApp)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Delivery delay after Delivered / Completed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6 ·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Business rules (owner decisions)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43000"/>
          <a:ext cx="11430000" cy="4727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669280"/>
                <a:gridCol w="3657600"/>
              </a:tblGrid>
              <a:tr h="4297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Rule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Setting / value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Where to change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Sales tax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18%, added on top of the price (or included) — tick to apply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Settings → Tax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Payment modes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Cash → Credit Card → Bank Transfer (+ Online Payment)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Settings → Payment modes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Invoice mode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POS Invoice at the counter; merged into Sales Invoices at shift close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Settings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Stock deduction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In the background when food leaves the kitchen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Settings → Stock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Foodpanda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Invoiced at Delivered; Foodpanda price list; delivered by Foodpanda riders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Settings → Foodpanda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Manager approval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Cashier discount &gt; 10% of bill; every return / refund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Settings → Manager Approval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Delivery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Fee Rs 150, minimum order Rs 500, radius per branch, OTP code optional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Settings / Restaurant Branch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Loyalty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1 pt per Rs 100, 1 pt = Rs 1, expires 365 days, online redemption on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Loyalty Program “Saffron Rewards”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Low rating alert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≤ 2 stars → managers notified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Settings → Reviews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Branches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Multi-branch; Gulberg is the main branch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Restaurant Branch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7 ·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Integrations — adapters, Mock until credentials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43000"/>
          <a:ext cx="114300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926080"/>
                <a:gridCol w="2834640"/>
                <a:gridCol w="27432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Partner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 go Live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Foodpanda (Delivery Hero)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Orders in (webhook); status &amp; availability out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Mock — simulator + signed webhook ready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API access, webhook secret, product mapping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Payment gateway (Safepay / PayFast / JazzCash / Easypaisa)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Hosted checkout out; paid / failed webhook in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Mock — built-in test payment page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Merchant account, keys, provider's checkout call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FBR (or PRA)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Invoice data out; FBR invoice number in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Mock — number and QR on receipts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POS ID, token, PRAL URL, PCT code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WhatsApp / SMS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Review links, campaigns out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Mock — logged as Integration Requests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Provider account, approved templates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1E293B"/>
                          </a:solidFill>
                          <a:latin typeface="Calibri"/>
                        </a:rPr>
                        <a:t>Maps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Tiles in the browser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OpenStreetMap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Calibri"/>
                        </a:rPr>
                        <a:t>Paid tiles / Google key for heavy traffic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5257800"/>
            <a:ext cx="114300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Every call is logged as an Integration Request with its payload. Live webhooks require an HMAC-SHA256 signature; in Mock mode the payment webhook is closed and the Foodpanda webhook needs a signed-in manager.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8 ·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Non-functional requirements — measured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143000"/>
          <a:ext cx="6675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228600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Requirement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Measured (p95)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Order visible on KDS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&lt; 1 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113 ms 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POS checkout (server)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&lt; 300 ms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204 ms ✓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Online quote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&lt; 500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55 ms 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KDS board refresh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&lt; 1 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16 ms ✓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Tracking page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&lt; 300 ms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2 ms ✓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0" y="1143000"/>
            <a:ext cx="4480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Reliability: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 offline POS with idempotent sync; idempotent webhooks; failed stock / FBR jobs retried hourly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Observability: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 health endpoint, Frappe Error Log, Integration Request log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Deployability: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 bench (no Docker — owner decision); production via bench setup production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1E293B"/>
                </a:solidFill>
                <a:latin typeface="Calibri"/>
              </a:rPr>
              <a:t>Load test: </a:t>
            </a:r>
            <a:r>
              <a:rPr sz="1300" b="0" i="0">
                <a:solidFill>
                  <a:srgbClr val="1E293B"/>
                </a:solidFill>
                <a:latin typeface="Calibri"/>
              </a:rPr>
              <a:t> 40 rounds of counter sale + online order, rolled back (tests/load.py)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7 ·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Security and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Server-side checks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on all 94 API methods — the screen never decides access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Counter: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only users on the POS Profile, or managers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Riders: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only their own deliveries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Public pages: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rate limited; prices recomputed on the server; orders reached by a random 12-character key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Manager approval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with password check, wrong-password lockout (5 per 10 min)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344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Audit trail: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change history on orders, invoices, stock entries, reconciliations, offers, coupons, cash movements, payments, prices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Approvals noted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on the invoice: who approved, which cashier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Signed webhooks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(HMAC-SHA256) for payments and Foodpanda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Secrets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stored as Password fields, never returned by the API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9 ·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Acceptance criteria — definition of 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188720"/>
            <a:ext cx="1115568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Calibri"/>
              </a:rPr>
              <a:t>A test order from each channel flows automatically through KDS → rider → delivered → review, deducts the right ingredients from the right kitchen warehouse, triggers reorder below threshold, and shows up in every report.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2148840"/>
          <a:ext cx="11155679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5279"/>
                <a:gridCol w="320040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64008" marR="64008" marT="27432" marB="27432" anchor="ctr">
                    <a:solidFill>
                      <a:srgbClr val="0D948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6 channels: POS, dine-in, web, kiosk, Foodpanda, phone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Pass — tests/test_e2e.py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On the KDS immediately (&lt; 1 s)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Own-rider deliveries offered at Ready, delivered with code and cash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Every order invoiced; every customer can rate; low rating alerts managers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0.35 kg chicken per Chicken Tikka issued from Gulberg Kitchen, once per order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Below reorder level → Material Request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All channels in Sales by Channel; reviews on the dashboard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1E293B"/>
                          </a:solidFill>
                          <a:latin typeface="Calibri"/>
                        </a:rPr>
                        <a:t>Unit tests (counter, offers, KDS, tables, tax, FBR, riders, online, kiosk, payments, loyalty, reviews, approvals)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Calibri"/>
                        </a:rPr>
                        <a:t>36 pass</a:t>
                      </a:r>
                    </a:p>
                  </a:txBody>
                  <a:tcPr marL="64008" marR="64008" marT="27432" marB="27432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rtlCol="0" anchor="ctr" wrap="square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0D9488"/>
                </a:solidFill>
                <a:latin typeface="Calibri"/>
              </a:rPr>
              <a:t>9 ·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600" b="1" i="0">
                <a:solidFill>
                  <a:srgbClr val="1E293B"/>
                </a:solidFill>
                <a:latin typeface="Calibri"/>
              </a:rPr>
              <a:t>Open items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Calibri"/>
              </a:rPr>
              <a:t>Restaurant OS · Functional Specification · v1.0 · 21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Calibr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Credentials to go live: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FBR / PRA, Foodpanda, payment gateway, WhatsApp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Hardware: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receipt printer and KDS screen models; kitchen printers for per-station auto-print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Decision: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let cashiers pick manual POS Offers?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Production: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HTTPS server (rider GPS), workers, backups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23444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Where hardware goes: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receipt printer — POS terminal → Printer; KDS — open /ros/kds on the kitchen screen and pick its station; kiosk — /ros/kiosk in full-screen; riders — /ros/rider on their phones</a:t>
            </a:r>
          </a:p>
          <a:p>
            <a:pPr>
              <a:spcAft>
                <a:spcPts val="12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•  </a:t>
            </a:r>
            <a:r>
              <a:rPr sz="1400" b="1" i="0">
                <a:solidFill>
                  <a:srgbClr val="1E293B"/>
                </a:solidFill>
                <a:latin typeface="Calibri"/>
              </a:rPr>
              <a:t>Training videos: </a:t>
            </a:r>
            <a:r>
              <a:rPr sz="1400" b="0" i="0">
                <a:solidFill>
                  <a:srgbClr val="1E293B"/>
                </a:solidFill>
                <a:latin typeface="Calibri"/>
              </a:rPr>
              <a:t> one simulator video per operation (separate files)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