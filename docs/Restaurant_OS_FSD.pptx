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 0 shows Restaurant OS as a single process and every outside party that exchanges data with it. Customers, staff and riders use the React screens; Foodpanda, the payment gateway, FBR and WhatsApp connect through adapters.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Level 1 decomposes process 0 into seven processes. Orders (D2) drive the kitchen, delivery, billing and stock; invoices (D3) drive loyalty points and FBR; stock (D4) and reviews (D5) feed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E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99F6E4"/>
                </a:solidFill>
                <a:latin typeface="Calibri"/>
              </a:rPr>
              <a:t>FUNCTIONAL SPECIFICATION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Restaurant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D1FAF5"/>
                </a:solidFill>
                <a:latin typeface="Calibri"/>
              </a:rPr>
              <a:t>Automate the restaurant from one screen — orders, kitchen, riders, stock,</a:t>
            </a:r>
          </a:p>
          <a:p>
            <a:pPr algn="l"/>
            <a:r>
              <a:rPr sz="2000" b="0" i="0">
                <a:solidFill>
                  <a:srgbClr val="D1FAF5"/>
                </a:solidFill>
                <a:latin typeface="Calibri"/>
              </a:rPr>
              <a:t>reviews and reports on ERPNext v16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Includes Data Flow Diagrams — Level 0 (context) and Level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73152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Version 1.0  ·  21 October 2026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Demo company: Saffron Grill (SGR) · Main branch: Gulberg, Lahore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566928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  <a:latin typeface="Calibri"/>
              </a:rPr>
              <a:t>App: restaurant_os</a:t>
            </a:r>
          </a:p>
          <a:p>
            <a:pPr algn="r"/>
            <a:r>
              <a:rPr sz="1400" b="0" i="0">
                <a:solidFill>
                  <a:srgbClr val="FFFFFF"/>
                </a:solidFill>
                <a:latin typeface="Calibri"/>
              </a:rPr>
              <a:t>Site: restaurant.localhost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ABOUT THIS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Document control &amp;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51206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Functional Specification (FSD)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Version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1.0 — all 11 build phases complete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21 October 2026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OS (Frappe app restaurant_os)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ERPNext v16 · Frappe v16 · React 18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Built, tested (37 automated tests)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Audience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Owner, managers, implementers, developers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26480" y="123444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1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Purpose, scope and users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2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System overview and the nine-step flow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3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Data Flow Diagram — Level 0 (context)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4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Data Flow Diagram — Level 1 (processes and data stores)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5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Functional requirements by module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6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Order state machine and business rules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7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Integrations, security and audit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8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Non-functional requirements and measured results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9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Acceptance criteria and open items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1 ·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Purpose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Calibri"/>
              </a:rPr>
              <a:t>This document specifies what Restaurant OS does: the functions each user gets, the data that moves between them, and the rules the system enforces. It describes the system as built and tested.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57400"/>
            <a:ext cx="5486400" cy="4114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In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60320"/>
            <a:ext cx="5486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Orders from POS counter, dine-in tables, website / app, self-order kiosk, phone and Foodpanda — one queue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Kitchen Display (KDS) by station; table map for dine-in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Own riders and Foodpanda riders; live tracking; cash on delivery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POS shifts, payments (cash, card, bank, online), FBR invoice reporting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Recipe-based stock deduction, wastage, variance, auto-reorder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Offers, coupons, loyalty points, reviews, campaigns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Owner dashboard and reports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57400"/>
            <a:ext cx="5440680" cy="4114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Out of scope (this version)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60320"/>
            <a:ext cx="5440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Payroll and HR beyond rider check-in (standard ERPNext HRMS)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Kitchen printer auto-routing per station (field exists; awaits hardware)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Live provider calls for Foodpanda, WhatsApp, payment gateway, FBR — built as adapters in Mock mode until credentials arrive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Docker deployment — not required (owner decision); production via bench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Table reservations and online pre-booking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2 ·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One system, nine automatic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02920" y="1463040"/>
            <a:ext cx="1161288" cy="1143000"/>
          </a:xfrm>
          <a:prstGeom prst="homePlat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Warehouse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10" name="Chevron 9"/>
          <p:cNvSpPr/>
          <p:nvPr/>
        </p:nvSpPr>
        <p:spPr>
          <a:xfrm>
            <a:off x="1773936" y="1463040"/>
            <a:ext cx="1161288" cy="1143000"/>
          </a:xfrm>
          <a:prstGeom prst="chevron">
            <a:avLst/>
          </a:prstGeom>
          <a:solidFill>
            <a:srgbClr val="0B5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38528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8528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Kitchen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13" name="Chevron 12"/>
          <p:cNvSpPr/>
          <p:nvPr/>
        </p:nvSpPr>
        <p:spPr>
          <a:xfrm>
            <a:off x="3044952" y="1463040"/>
            <a:ext cx="1161288" cy="11430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Order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placed</a:t>
            </a:r>
          </a:p>
        </p:txBody>
      </p:sp>
      <p:sp>
        <p:nvSpPr>
          <p:cNvPr id="16" name="Chevron 15"/>
          <p:cNvSpPr/>
          <p:nvPr/>
        </p:nvSpPr>
        <p:spPr>
          <a:xfrm>
            <a:off x="4315968" y="1463040"/>
            <a:ext cx="1161288" cy="1143000"/>
          </a:xfrm>
          <a:prstGeom prst="chevron">
            <a:avLst/>
          </a:prstGeom>
          <a:solidFill>
            <a:srgbClr val="0B5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Kitchen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display</a:t>
            </a:r>
          </a:p>
        </p:txBody>
      </p:sp>
      <p:sp>
        <p:nvSpPr>
          <p:cNvPr id="19" name="Chevron 18"/>
          <p:cNvSpPr/>
          <p:nvPr/>
        </p:nvSpPr>
        <p:spPr>
          <a:xfrm>
            <a:off x="5586984" y="1463040"/>
            <a:ext cx="1161288" cy="11430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51576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51576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Rider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notified</a:t>
            </a:r>
          </a:p>
        </p:txBody>
      </p:sp>
      <p:sp>
        <p:nvSpPr>
          <p:cNvPr id="22" name="Chevron 21"/>
          <p:cNvSpPr/>
          <p:nvPr/>
        </p:nvSpPr>
        <p:spPr>
          <a:xfrm>
            <a:off x="6858000" y="1463040"/>
            <a:ext cx="1161288" cy="1143000"/>
          </a:xfrm>
          <a:prstGeom prst="chevron">
            <a:avLst/>
          </a:prstGeom>
          <a:solidFill>
            <a:srgbClr val="0B5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22592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592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sp>
        <p:nvSpPr>
          <p:cNvPr id="25" name="Chevron 24"/>
          <p:cNvSpPr/>
          <p:nvPr/>
        </p:nvSpPr>
        <p:spPr>
          <a:xfrm>
            <a:off x="8129016" y="1463040"/>
            <a:ext cx="1161288" cy="11430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28" name="Chevron 27"/>
          <p:cNvSpPr/>
          <p:nvPr/>
        </p:nvSpPr>
        <p:spPr>
          <a:xfrm>
            <a:off x="9400032" y="1463040"/>
            <a:ext cx="1161288" cy="1143000"/>
          </a:xfrm>
          <a:prstGeom prst="chevron">
            <a:avLst/>
          </a:prstGeom>
          <a:solidFill>
            <a:srgbClr val="0B5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64624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64624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Stock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auto-update</a:t>
            </a:r>
          </a:p>
        </p:txBody>
      </p:sp>
      <p:sp>
        <p:nvSpPr>
          <p:cNvPr id="31" name="Chevron 30"/>
          <p:cNvSpPr/>
          <p:nvPr/>
        </p:nvSpPr>
        <p:spPr>
          <a:xfrm>
            <a:off x="10671048" y="1463040"/>
            <a:ext cx="1161288" cy="114300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35640" y="1572768"/>
            <a:ext cx="886968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35640" y="1938528"/>
            <a:ext cx="8869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Reports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880360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1–2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88036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Central Store and each branch kitchen are ERPNext warehouses; ingredients carry reorder levels on both.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310128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331012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Every channel creates a Restaurant Order with the channel, type (dine-in, takeaway, delivery, pickup) and lines routed to stations.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739896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373989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order appears on the KDS instantly (Socket.IO); cooks bump lines, the card moves Placed → Preparing → Ready.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169664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4169664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At Ready, a delivery is offered to the nearest free rider (or assigned from the KDS / dispatch map).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99432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80160" y="4599432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Rider picks up, delivers with the customer's 4-digit code, collects cash; the invoice is made at delivery.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029200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5029200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The customer rates the order from the tracking link; low ratings alert managers.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458968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5458968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When the food leaves the kitchen, the dish recipes (BOM) are issued from the kitchen warehouse; below reorder level ERPNext raises a Material Request.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888736"/>
            <a:ext cx="640080" cy="347472"/>
          </a:xfrm>
          <a:prstGeom prst="rect">
            <a:avLst/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5888736"/>
            <a:ext cx="10424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Sales, kitchen times, menu engineering, customers, variance — live dashboard and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1 ·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Users, devices and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18872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377440"/>
                <a:gridCol w="4480560"/>
                <a:gridCol w="28346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Device / screen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Main tasks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Access rule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Cashier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Counter PC — POS terminal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Open / close shift, sell, hold, return*, cash in/out, receive stock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On the counter's POS Profile user list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Waiter / host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Tablet — Table map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Seat guests, send rounds to kitchen, move table, settle bill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write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Kitchen staff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Wall screen — KDS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See tickets by station, bump lines, recall, assign rider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read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Dispatcher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PC — Dispatch map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orders, assign riders, collect rider cash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write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Rider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— Rider app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Go on duty, accept / reject, pick up, deliver (code, photo, cash)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Own deliveries only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Phone / web — Ordering site, tracking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Order, pay, track rider, rate order, earn points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Public, rate limited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Walk-in guest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Tablet — Kiosk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Self-order; pay at counter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Public, rate limited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Manager / owner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Any — Dashboard, reports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Approve big discounts &amp; returns, reviews, campaigns, settings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System / Sales / Accounts Manager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8978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* Returns and cashier discounts above 10% need a manager's sign-in at the terminal.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2 ·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System overview — how the parts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1051560"/>
          </a:xfrm>
          <a:prstGeom prst="rect">
            <a:avLst/>
          </a:prstGeom>
          <a:solidFill>
            <a:srgbClr val="EAF2FC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930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Users' screens (React, one app at /ros)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terminal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3966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Table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7852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1738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Dispatch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4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Rider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09510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Ordering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83396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Kiosk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57282" y="161848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Owner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68880"/>
            <a:ext cx="11155680" cy="1051560"/>
          </a:xfrm>
          <a:prstGeom prst="rect">
            <a:avLst/>
          </a:prstGeom>
          <a:solidFill>
            <a:srgbClr val="E6F6F4"/>
          </a:solidFill>
          <a:ln w="1587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2374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0B5E57"/>
                </a:solidFill>
                <a:latin typeface="Calibri"/>
              </a:rPr>
              <a:t>restaurant_os — custom Frappe app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Order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3966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KDS &amp; tables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7852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Riders &amp; tracking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61738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Stock deduction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5624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Loyalty &amp; reviews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9510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Analytics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3396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Approvals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57282" y="285292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Health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03320"/>
            <a:ext cx="11155680" cy="1051560"/>
          </a:xfrm>
          <a:prstGeom prst="rect">
            <a:avLst/>
          </a:prstGeom>
          <a:solidFill>
            <a:srgbClr val="F8FAFC"/>
          </a:solidFill>
          <a:ln w="1587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5818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ERPNext v16 + POS Awesome + HRMS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Invoice / Sales Invoice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3966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POS Shifts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7852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Offers &amp; Coupons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61738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BOM / Stock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35624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Material Request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09510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Loyalty Program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3396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Employee Checkin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57282" y="4087368"/>
            <a:ext cx="126415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Payment Entry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937760"/>
            <a:ext cx="11155680" cy="1051560"/>
          </a:xfrm>
          <a:prstGeom prst="rect">
            <a:avLst/>
          </a:prstGeom>
          <a:solidFill>
            <a:srgbClr val="FDF0E9"/>
          </a:solidFill>
          <a:ln w="15875">
            <a:solidFill>
              <a:srgbClr val="EA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992624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A6834"/>
                </a:solidFill>
                <a:latin typeface="Calibri"/>
              </a:rPr>
              <a:t>Integration adapters (Mock ↔ Live)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7852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35624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WhatsApp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83396" y="5321808"/>
            <a:ext cx="2638044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A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E293B"/>
                </a:solidFill>
                <a:latin typeface="Calibri"/>
              </a:rPr>
              <a:t>FBR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722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Live updates travel over Socket.IO (KDS, tables, dispatch, rider location). Background jobs run on Frappe workers in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Data Flow Diagram 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194560" cy="82296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External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463040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A person or outside system that sends data in or receives data out (customer, rider, Foodpanda, FBR).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2194560" cy="82296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2.0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606040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Work the system does that changes data. Numbered: 0 for the whole system (Level 0), 1.0 … 7.0 in Level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2194560" cy="685800"/>
          </a:xfrm>
          <a:prstGeom prst="rect">
            <a:avLst/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94760"/>
            <a:ext cx="457200" cy="685800"/>
          </a:xfrm>
          <a:prstGeom prst="rect">
            <a:avLst/>
          </a:prstGeom>
          <a:solidFill>
            <a:srgbClr val="EA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7947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Data store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94760"/>
            <a:ext cx="219456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31520" y="4480560"/>
            <a:ext cx="219456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749039"/>
            <a:ext cx="82296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Data at rest — mapped to ERPNext / restaurant_os DocTypes (e.g. D2 Restaurant Orders).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120640"/>
            <a:ext cx="2011680" cy="0"/>
          </a:xfrm>
          <a:prstGeom prst="line">
            <a:avLst/>
          </a:prstGeom>
          <a:ln w="22225">
            <a:solidFill>
              <a:srgbClr val="1E29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75488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data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846320"/>
            <a:ext cx="822960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  <a:latin typeface="Calibri"/>
              </a:rPr>
              <a:t>Data moving between entities, processes and stores; the label names the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DFD Level 0 — context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7" name="Oval 6"/>
          <p:cNvSpPr/>
          <p:nvPr/>
        </p:nvSpPr>
        <p:spPr>
          <a:xfrm>
            <a:off x="4727448" y="2606040"/>
            <a:ext cx="2743200" cy="1600200"/>
          </a:xfrm>
          <a:prstGeom prst="ellipse">
            <a:avLst/>
          </a:prstGeom>
          <a:solidFill>
            <a:srgbClr val="0D9488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0</a:t>
            </a:r>
          </a:p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Restaurant 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Customer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web · app · kiosk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Cashier / Waiter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8348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Kitchen staff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38928" y="553212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Rider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8928" y="91440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Manager / 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11512" y="114300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11512" y="237744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1512" y="361188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FBR (tax)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11512" y="4846320"/>
            <a:ext cx="1920240" cy="6858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WhatsApp / SMS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1394460"/>
            <a:ext cx="2670048" cy="153162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14600" y="141732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order, payment, review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2377440" y="1668780"/>
            <a:ext cx="2532888" cy="148590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514600" y="214884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quote, tracking, receipt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7440" y="3296412"/>
            <a:ext cx="2350008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514600" y="283464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sale, shift, cash, table rounds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377440" y="3543300"/>
            <a:ext cx="2350008" cy="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514600" y="36118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receipt, Z-report, bill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377440" y="3749040"/>
            <a:ext cx="2532888" cy="148590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514600" y="45720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bump, recall, rider pick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377440" y="3977640"/>
            <a:ext cx="2715768" cy="153162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514600" y="534924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tickets by station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779008" y="1600200"/>
            <a:ext cx="0" cy="10058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880360" y="19659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settings, approval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6419088" y="1600200"/>
            <a:ext cx="0" cy="100584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86600" y="19659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dashboard, alerts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779008" y="4206240"/>
            <a:ext cx="0" cy="13258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743200" y="47548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duty, GPS, delivered + cash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19088" y="4206240"/>
            <a:ext cx="0" cy="132588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86600" y="47548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delivery offer, route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7150608" y="1485900"/>
            <a:ext cx="2660904" cy="139446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01000" y="141732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orders (webhook)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7379208" y="1714500"/>
            <a:ext cx="2432304" cy="144018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01000" y="192024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status, availability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7470648" y="2720340"/>
            <a:ext cx="2340864" cy="36576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001000" y="2487168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payment session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470648" y="2948940"/>
            <a:ext cx="2340864" cy="36576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001000" y="301752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paid / failed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470648" y="3589020"/>
            <a:ext cx="2340864" cy="36576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001000" y="3639312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invoice data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7424928" y="3817620"/>
            <a:ext cx="2386584" cy="36576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01000" y="41148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FBR invoice no. + QR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104888" y="3931920"/>
            <a:ext cx="2706624" cy="125730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001000" y="47548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review link, campaign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35508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Grey arrows: data into the system   ·   Teal arrows: data out of the system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DFD Level 1 — processes and data 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1188720"/>
            <a:ext cx="1874519" cy="77724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1.0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Capture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188720"/>
            <a:ext cx="1874519" cy="77724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2.0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Kitchen (KDS)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1874519" cy="77724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3.0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Deliver &amp;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246120"/>
            <a:ext cx="1874519" cy="77724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4.0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Bill, pay &amp; report tax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60" y="3246120"/>
            <a:ext cx="1874519" cy="77724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5.0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Issue stock &amp; reorder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246120"/>
            <a:ext cx="1874519" cy="77724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6.0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Reviews &amp; loyalty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5303520"/>
            <a:ext cx="1874519" cy="777240"/>
          </a:xfrm>
          <a:prstGeom prst="roundRect">
            <a:avLst/>
          </a:prstGeom>
          <a:solidFill>
            <a:srgbClr val="E6F6F4"/>
          </a:solidFill>
          <a:ln w="22225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7.0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Analyse &amp; report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2377440"/>
            <a:ext cx="1783080" cy="384048"/>
          </a:xfrm>
          <a:prstGeom prst="rect">
            <a:avLst/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12080" y="23774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2377440"/>
            <a:ext cx="128016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Menu, recipes (BOM)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12080" y="2377440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212080" y="2761488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331720" y="2377440"/>
            <a:ext cx="1783080" cy="384048"/>
          </a:xfrm>
          <a:prstGeom prst="rect">
            <a:avLst/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31720" y="23774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377440"/>
            <a:ext cx="128016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Restaurant Orders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31720" y="2377440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31720" y="2761488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092440" y="2377440"/>
            <a:ext cx="1783080" cy="384048"/>
          </a:xfrm>
          <a:prstGeom prst="rect">
            <a:avLst/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23774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377440"/>
            <a:ext cx="128016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Riders &amp; assignments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2440" y="2377440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092440" y="2761488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2331720" y="4434840"/>
            <a:ext cx="1783080" cy="384048"/>
          </a:xfrm>
          <a:prstGeom prst="rect">
            <a:avLst/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31720" y="44348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434840"/>
            <a:ext cx="128016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Invoices &amp; payments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331720" y="4434840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31720" y="4818888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212080" y="4434840"/>
            <a:ext cx="1783080" cy="384048"/>
          </a:xfrm>
          <a:prstGeom prst="rect">
            <a:avLst/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12080" y="44348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4434840"/>
            <a:ext cx="128016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Stock ledger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12080" y="4434840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12080" y="4818888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8092440" y="4434840"/>
            <a:ext cx="1783080" cy="384048"/>
          </a:xfrm>
          <a:prstGeom prst="rect">
            <a:avLst/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4434840"/>
            <a:ext cx="457200" cy="384048"/>
          </a:xfrm>
          <a:prstGeom prst="rect">
            <a:avLst/>
          </a:prstGeom>
          <a:solidFill>
            <a:srgbClr val="EA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4434840"/>
            <a:ext cx="128016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Customers, points, reviews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092440" y="4434840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92440" y="4818888"/>
            <a:ext cx="1783080" cy="0"/>
          </a:xfrm>
          <a:prstGeom prst="line">
            <a:avLst/>
          </a:prstGeom>
          <a:ln w="19050">
            <a:solidFill>
              <a:srgbClr val="EA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74320" y="91440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Customer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178308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Cashier / Waiter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65176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Foodpanda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03520" y="566928"/>
            <a:ext cx="1600200" cy="457200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Kitchen staff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32720" y="100584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Rider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88620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Payment gateway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916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FBR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32720" y="333756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WhatsApp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548640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Manager / Owner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06040" y="5486400"/>
            <a:ext cx="1600200" cy="566928"/>
          </a:xfrm>
          <a:prstGeom prst="rect">
            <a:avLst/>
          </a:prstGeom>
          <a:solidFill>
            <a:srgbClr val="EAF2FC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E293B"/>
                </a:solidFill>
                <a:latin typeface="Calibri"/>
              </a:rPr>
              <a:t>Supplier / Store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874520" y="1197864"/>
            <a:ext cx="411480" cy="19659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83080" y="10515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cart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1874520" y="1668780"/>
            <a:ext cx="411480" cy="39776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691640" y="1627632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sale / rounds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874520" y="1965960"/>
            <a:ext cx="640080" cy="96926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645920" y="24231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FP order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223259" y="1965960"/>
            <a:ext cx="1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3246120" y="20574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new order</a:t>
            </a:r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3977639" y="1965960"/>
            <a:ext cx="1234441" cy="53035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160520" y="20574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prices, stock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160519" y="1577340"/>
            <a:ext cx="1005841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4251960" y="13258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ticket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6103619" y="1024128"/>
            <a:ext cx="1" cy="16459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949440" y="896112"/>
            <a:ext cx="11887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tickets ⇄ bumps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4023360" y="1965960"/>
            <a:ext cx="132588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160520" y="18288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status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7040879" y="1577340"/>
            <a:ext cx="1005841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132320" y="13258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ready delivery</a:t>
            </a:r>
          </a:p>
        </p:txBody>
      </p:sp>
      <p:cxnSp>
        <p:nvCxnSpPr>
          <p:cNvPr id="72" name="Connector 71"/>
          <p:cNvCxnSpPr/>
          <p:nvPr/>
        </p:nvCxnSpPr>
        <p:spPr>
          <a:xfrm flipV="1">
            <a:off x="9921239" y="1152144"/>
            <a:ext cx="411481" cy="28803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829800" y="96012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offer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9921239" y="1426464"/>
            <a:ext cx="411481" cy="28803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9829800" y="1572768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GPS, code, cash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983979" y="1965960"/>
            <a:ext cx="1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 flipV="1">
            <a:off x="1440180" y="914400"/>
            <a:ext cx="6743700" cy="274320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480560" y="6400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live tracking</a:t>
            </a:r>
          </a:p>
        </p:txBody>
      </p:sp>
      <p:cxnSp>
        <p:nvCxnSpPr>
          <p:cNvPr id="79" name="Connector 78"/>
          <p:cNvCxnSpPr/>
          <p:nvPr/>
        </p:nvCxnSpPr>
        <p:spPr>
          <a:xfrm flipH="1">
            <a:off x="3223259" y="2761488"/>
            <a:ext cx="1" cy="48463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691640" y="283464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completed order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1874520" y="3634740"/>
            <a:ext cx="411480" cy="53492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1737360" y="34290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paid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1874520" y="3886200"/>
            <a:ext cx="411480" cy="110642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737360" y="42976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invoice → FBR no.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223259" y="4023360"/>
            <a:ext cx="1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3246120" y="41148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invoice, payment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4114800" y="2660904"/>
            <a:ext cx="1051560" cy="76809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114800" y="278892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food left kitchen</a:t>
            </a:r>
          </a:p>
        </p:txBody>
      </p:sp>
      <p:cxnSp>
        <p:nvCxnSpPr>
          <p:cNvPr id="89" name="Connector 88"/>
          <p:cNvCxnSpPr/>
          <p:nvPr/>
        </p:nvCxnSpPr>
        <p:spPr>
          <a:xfrm flipH="1">
            <a:off x="6103619" y="2761488"/>
            <a:ext cx="1" cy="48463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6172200" y="283464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recipe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103619" y="4023360"/>
            <a:ext cx="1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172200" y="41148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issue, wastage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206240" y="4818888"/>
            <a:ext cx="1348740" cy="950976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4251960" y="507492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reorder request</a:t>
            </a:r>
          </a:p>
        </p:txBody>
      </p:sp>
      <p:cxnSp>
        <p:nvCxnSpPr>
          <p:cNvPr id="95" name="Connector 94"/>
          <p:cNvCxnSpPr/>
          <p:nvPr/>
        </p:nvCxnSpPr>
        <p:spPr>
          <a:xfrm flipV="1">
            <a:off x="4114800" y="3840480"/>
            <a:ext cx="3931920" cy="694944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09360" y="3950208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invoice → points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8983979" y="4023360"/>
            <a:ext cx="1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9921239" y="3621024"/>
            <a:ext cx="411481" cy="13716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9829800" y="33832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review link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1132820" y="1572768"/>
            <a:ext cx="0" cy="1764792"/>
          </a:xfrm>
          <a:prstGeom prst="line">
            <a:avLst/>
          </a:prstGeom>
          <a:ln w="15875">
            <a:solidFill>
              <a:srgbClr val="CBD5E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691640" y="1481328"/>
            <a:ext cx="6629400" cy="1764792"/>
          </a:xfrm>
          <a:prstGeom prst="line">
            <a:avLst/>
          </a:prstGeom>
          <a:ln w="15875">
            <a:solidFill>
              <a:srgbClr val="64748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315200" y="28803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rating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223260" y="4864608"/>
            <a:ext cx="2331719" cy="438912"/>
          </a:xfrm>
          <a:prstGeom prst="line">
            <a:avLst/>
          </a:prstGeom>
          <a:ln w="15875">
            <a:solidFill>
              <a:srgbClr val="CBD5E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6103619" y="4864608"/>
            <a:ext cx="1" cy="438912"/>
          </a:xfrm>
          <a:prstGeom prst="line">
            <a:avLst/>
          </a:prstGeom>
          <a:ln w="15875">
            <a:solidFill>
              <a:srgbClr val="CBD5E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6652259" y="4864608"/>
            <a:ext cx="2331721" cy="438912"/>
          </a:xfrm>
          <a:prstGeom prst="line">
            <a:avLst/>
          </a:prstGeom>
          <a:ln w="15875">
            <a:solidFill>
              <a:srgbClr val="CBD5E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7040879" y="5692140"/>
            <a:ext cx="1325881" cy="77724"/>
          </a:xfrm>
          <a:prstGeom prst="line">
            <a:avLst/>
          </a:prstGeom>
          <a:ln w="15875">
            <a:solidFill>
              <a:srgbClr val="0D9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7086600" y="58521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800" b="0" i="0">
                <a:solidFill>
                  <a:srgbClr val="1E293B"/>
                </a:solidFill>
                <a:latin typeface="Calibri"/>
              </a:rPr>
              <a:t>dashboard, reports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Level 1 processes — inputs, outputs and where they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00400"/>
                <a:gridCol w="3108960"/>
                <a:gridCol w="310896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Inputs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Outputs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Implemented in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1.0 Capture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Cart / counter sale / table round / Foodpanda order / phone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(D2), KDS ticket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api.pos, api.online, api.tables, api.riders.new_delivery_order, aggregators.foodpanda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2.0 Kitchen (KDS)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Tickets by station; cook bumps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Line &amp; order status, Ready event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api.kds, services.orders (state machine)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3.0 Deliver &amp; track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Ready delivery, rider GPS, delivery code,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Offer, assignment (D6), tracking page, COD into Rider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services.riders, api.riders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4.0 Bill, pay &amp; report tax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Completed order, payments, gateway result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POS / Sales Invoice, Payment Entry (D3), FBR invoice no. + QR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api.pos, services.delivery, services.payments, integrations.tax_authority.fbr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5.0 Issue stock &amp; reorder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Order left kitchen, recipe (D1), wastage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Stock Entry (D4), sold-out flags, Material Request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services.stock_deduction, services.availability, ERPNext reorder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6.0 Reviews &amp; loyalty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Invoice, rating, campaign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Loyalty points, Order Review, alerts, messages (D5)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services.loyalty, services.reviews, services.campaigns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1E293B"/>
                          </a:solidFill>
                          <a:latin typeface="Calibri"/>
                        </a:rPr>
                        <a:t>7.0 Analyse &amp; report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D2–D5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Owner dashboard, 5 script 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1E293B"/>
                          </a:solidFill>
                          <a:latin typeface="Calibri"/>
                        </a:rPr>
                        <a:t>services.analytics, report/*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3 · DFD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Data stores — mapped to DocTypes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6126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DocTypes (ERPNext standard / restaurant_os custom)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D1 Menu, recipes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Dishes, prices, add-ons, recipes, stations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Item, Item Price, BOM · Menu Modifier Group, Kitchen Station, Restaurant Branch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D2 Restaurant Orders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Every order from every channel and its lines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Order (+ Item) · Restaurant Table, Floor Area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D3 Invoices &amp; payments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Bills, tenders, shifts, FBR numbers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Invoice, Sales Invoice, Payment Entry, POS Opening / Closing Shift, POS Cash Movement, Integration Request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D4 Stock ledger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Ingredient moves and counts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Stock Entry, Stock Ledger Entry, Bin, Stock Reconciliation, Material Request · Wastage Log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D5 Customers, points, reviews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Profiles, loyalty, ratings, campaigns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Customer, Loyalty Program, Loyalty Point Entry · Order Review, Restaurant Campaign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D6 Riders &amp; assignments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Riders, duty, offers, GPS trail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Employee, Employee Checkin · Rider, Delivery Assignment, Rider Location Log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Order capture — every channel in one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POS counter sale creates the kitchen order on invoice submit (channel POS)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Dine-in: seat a table, send rounds (marked “+ New Items” on the KDS), move table, settle one bill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Website / installable app: menu with add-ons, sold-out hiding, delivery pin on map, delivery radius and minimum order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Kiosk: self-order, idle reset; waits as a held sale until the cashier takes payment (channel Kiosk)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Phone order: dispatcher enters customer, address and pin; cash on delivery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Foodpanda: webhook (signed) or simulator; invoiced when delivered; Foodpanda price list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Idempotent: a repeated post (client UUID / Foodpanda id) never creates a second order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FR-1.8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Quote = invoice: the customer sees exactly what will be billed (offers, tax, delivery fee, points)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POS terminal, shifts and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Open shift with counted float per payment mode; close with counted cash, variance, Z-report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Sell by touch / barcode / keyboard; hold &amp; resume; split tender Cash → Card → Bank Transfer; credit sale for named customers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Offline: sales queue on the device and sync once, idempotently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Sales tax 18% (on top of or included in price, by setting); FBR service fee line; FBR invoice no. and QR on receipt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Returns (whole / part) refund through the chosen mode — manager approval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Cashier discounts above 10% of the bill — manager approval; offers / coupons are pre-approved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 in / out (expense, deposit, customer receipt), stock receiving at the counter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FR-2.8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Receipt: company logo, 80 / 58 mm or A4, auto-print option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Kitchen display and dine-in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Board columns Placed → Preparing → Ready → Completed, live over Socket.IO, filter by station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Bump a line or the whole card; recall; print ticket; age colours (amber / red minutes) and sound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Lines no station makes (delivery fee) never hold an order back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Delivery cards show the rider; “Assign rider” lists on-duty riders and off-duty riders (check in &amp; assign)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FR-3.5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Table map by floor area: free / occupied / bill, guests, running total; settle produces one invoice for the sitting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Delivery, riders and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Rider goes on / off duty = HR Employee Checkin (with GPS position)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At Ready, the order is offered to the nearest (or least busy) free rider; reject → next rider; manual mode available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Rider app: accept, navigate, pick up, deliver with the customer's 4-digit code or photo, collect cash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Cash collected sits in Rider Cash until handed over at the counter (journal into the open shift)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Dispatch map: riders and orders on OpenStreetMap, ETA, assign / reassign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Customer tracking page: steps, ETA, rider on map, delivery code, pay-now for failed online payments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FR-4.7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Foodpanda-rider orders are tracked from Foodpanda's rider updates (own riders are not offered them)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Online payment, offers, loyalty, reviews, campaigns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Online payment through a gateway adapter; unpaid orders stay off the KDS; paid orders need nothing collected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POS Offers apply on every channel (e.g. free Raita with Karahi); promo codes (POS Coupon) at checkout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Saffron Rewards: 1 point per Rs 100, 1 point = Rs 1, 365-day expiry; customers with a mobile enrolled automatically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Points redeemable at the counter and online (lower COD / online charge)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After delivery, the tracking page asks for stars (overall, food, delivery, each dish) and a comment; WhatsApp link after a delay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Rating at or below 2 stars notifies managers and shows on the dashboard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FR-5.7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Campaigns to Lapsed / New / Top spenders / Everyone with {name} {restaurant} {coupon} {link}; preview, then send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Inventory, recipes and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Each dish has a BOM recipe; add-ons that are items become their own lines and recipes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When food leaves the kitchen (Completed / Picked Up / Delivered) the recipe is issued from the branch kitchen warehouse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Failed issues are logged and retried hourly; never block the sale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Sold-out: an ingredient running out hides affected dishes on the web, kiosk and POS (and Foodpanda)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Wastage Log with reason → Material Issue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FR-6.6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Variance report: theoretical (recipes) vs actual (counts) per ingredient, branch, period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FR-6.7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Reorder levels on Central Store (purchase) and kitchen (transfer) → Material Requests → Purchase Orders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5 · FUNCTIONAL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Owner dashboard and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FR-7.1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Live dashboard: today vs yesterday (net, orders, ticket, food cost %), hourly sales, channels, top items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FR-7.2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Open orders and late tickets, kitchen load by station, tables, riders, deliveries waiting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FR-7.3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Low stock, sold-out dishes, wastage today, alerts (late orders, waiting deliveries, low ratings)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FR-7.4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Reviews panel: 7-day average, recent reviews, low &amp; unanswered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500" b="1" i="0">
                <a:solidFill>
                  <a:srgbClr val="1E293B"/>
                </a:solidFill>
                <a:latin typeface="Calibri"/>
              </a:rPr>
              <a:t>FR-7.5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 Reports: Restaurant Sales Analysis (by channel, branch, item, category, hour, day part, cashier), Kitchen Performance, Menu Engineering, Customer Insights, Ingredient Variance — in React and the desk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6 ·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Order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Placed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Accepted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Preparing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828800"/>
            <a:ext cx="137160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288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290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029200" y="2148840"/>
            <a:ext cx="228600" cy="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15200" y="1051560"/>
            <a:ext cx="1554480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Completed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06040"/>
            <a:ext cx="155448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0B5E57"/>
                </a:solidFill>
                <a:latin typeface="Calibri"/>
              </a:rPr>
              <a:t>Picked 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1554480" cy="640080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0B5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B5E57"/>
                </a:solidFill>
                <a:latin typeface="Calibri"/>
              </a:rPr>
              <a:t>Out for Delivery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154680"/>
            <a:ext cx="1554480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Delivered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29400" y="1371600"/>
            <a:ext cx="68580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60720" y="109728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dine-in / takeaway / pickup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2286000"/>
            <a:ext cx="68580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35040" y="27432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delivery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92440" y="3246120"/>
            <a:ext cx="0" cy="548640"/>
          </a:xfrm>
          <a:prstGeom prst="line">
            <a:avLst/>
          </a:prstGeom>
          <a:ln w="15875">
            <a:solidFill>
              <a:srgbClr val="1E29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869680" y="3611880"/>
            <a:ext cx="822960" cy="50292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03920" y="388620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own rider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869680" y="2926080"/>
            <a:ext cx="822960" cy="4114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95360" y="26517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Foodpanda rider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108960"/>
            <a:ext cx="1371600" cy="640080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EA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EA6834"/>
                </a:solidFill>
                <a:latin typeface="Calibri"/>
              </a:rPr>
              <a:t>Awaiting</a:t>
            </a:r>
          </a:p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Payment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1143000" y="2468880"/>
            <a:ext cx="0" cy="64008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188720" y="2651760"/>
            <a:ext cx="1645920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00" b="0" i="0">
                <a:solidFill>
                  <a:srgbClr val="1E293B"/>
                </a:solidFill>
                <a:latin typeface="Calibri"/>
              </a:rPr>
              <a:t>paid online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3108960"/>
            <a:ext cx="2377440" cy="6400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Cancelled / Rejected / Returned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57200" y="4343400"/>
          <a:ext cx="65836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1089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Automatic step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Fires at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Offer to a rider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Ready (own-rider delivery)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Issue recipe ingredients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Completed / Picked Up / Delivered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Make invoice (web, phone, Foodpanda)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Delivered / Completed (counter: at sale)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Review link (WhatsApp)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Delivery delay after Delivered / Completed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6 ·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Business rules (owner decisions)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669280"/>
                <a:gridCol w="365760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Setting / value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Where to change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Sales tax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18%, added on top of the price (or included) — tick to apply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Tax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Payment modes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Cash → Credit Card → Bank Transfer (+ Online Payment)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Payment modes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Invoice mode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Invoice at the counter; merged into Sales Invoices at shift close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Stock deduction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 the background when food leaves the kitchen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Stock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Invoiced at Delivered; Foodpanda price list; delivered by Foodpanda riders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Foodpanda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Manager approval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Cashier discount &gt; 10% of bill; every return / refund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Manager Approval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Delivery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Fee Rs 150, minimum order Rs 500, radius per branch, OTP code optional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Settings / Restaurant Branch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Loyalty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1 pt per Rs 100, 1 pt = Rs 1, expires 365 days, online redemption on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Loyalty Program “Saffron Rewards”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Low rating alert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≤ 2 stars → managers notified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Settings → Reviews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Branches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Multi-branch; Gulberg is the main branch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Restaurant Branch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7 ·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Integrations — adapters, Mock until credentials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834640"/>
                <a:gridCol w="274320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Partner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To go Live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Foodpanda (Delivery Hero)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Orders in (webhook); status &amp; availability 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simulator + signed webhook ready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API access, webhook secret, product mapping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Payment gateway (Safepay / PayFast / JazzCash / Easypaisa)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Hosted checkout out; paid / failed webhook in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built-in test payment page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Merchant account, keys, provider's checkout call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FBR (or PRA)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Invoice data out; FBR invoice number in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number and QR on receipts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POS ID, token, PRAL URL, PCT code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WhatsApp / SMS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Review links, campaigns out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Mock — logged as Integration Requests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Provider account, approved templates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1E293B"/>
                          </a:solidFill>
                          <a:latin typeface="Calibri"/>
                        </a:rPr>
                        <a:t>Maps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Tiles in the browser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OpenStreetMap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E293B"/>
                          </a:solidFill>
                          <a:latin typeface="Calibri"/>
                        </a:rPr>
                        <a:t>Paid tiles / Google key for heavy traffic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25780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Every call is logged as an Integration Request with its payload. Live webhooks require an HMAC-SHA256 signature; in Mock mode the payment webhook is closed and the Foodpanda webhook needs a signed-in manager.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8 ·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Non-functional requirements —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6675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286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Measured (p95)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Order visible on KDS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1 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113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POS checkout (server)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300 ms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204 ms 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Online quote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500 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55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KDS board refresh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1 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16 ms 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Tracking page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&lt; 300 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2 ms 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114300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Reliability: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offline POS with idempotent sync; idempotent webhooks; failed stock / FBR jobs retried hourly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Observability: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health endpoint, Frappe Error Log, Integration Request log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Deployability: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bench (no Docker — owner decision); production via bench setup production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E293B"/>
                </a:solidFill>
                <a:latin typeface="Calibri"/>
              </a:rPr>
              <a:t>Load test: </a:t>
            </a:r>
            <a:r>
              <a:rPr sz="1300" b="0" i="0">
                <a:solidFill>
                  <a:srgbClr val="1E293B"/>
                </a:solidFill>
                <a:latin typeface="Calibri"/>
              </a:rPr>
              <a:t> 40 rounds of counter sale + online order, rolled back (tests/load.py)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7 ·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Security and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Server-side checks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 all 94 API methods — the screen never decides access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Counter: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only users on the POS Profile, or managers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Riders: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only their own deliveries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Public pages: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rate limited; prices recomputed on the server; orders reached by a random 12-character key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Manager approval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with password check, wrong-password lockout (5 per 10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Audit trail: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change history on orders, invoices, stock entries, reconciliations, offers, coupons, cash movements, payments, prices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Approvals noted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 the invoice: who approved, which cashier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Signed webhooks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(HMAC-SHA256) for payments and Foodpanda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Secrets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stored as Password fields, never returned by the API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9 · 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Acceptance criteria — definition of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64748B"/>
                </a:solidFill>
                <a:latin typeface="Calibri"/>
              </a:rPr>
              <a:t>A test order from each channel flows automatically through KDS → rider → delivered → review, deducts the right ingredients from the right kitchen warehouse, triggers reorder below threshold, and shows up in every report.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148840"/>
          <a:ext cx="1115567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55279"/>
                <a:gridCol w="32004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solidFill>
                      <a:srgbClr val="0D948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6 channels: POS, dine-in, web, kiosk, Foodpanda, phone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 — tests/test_e2e.py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On the KDS immediately (&lt; 1 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Own-rider deliveries offered at Ready, delivered with code and cash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Every order invoiced; every customer can rate; low rating alerts managers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0.35 kg chicken per Chicken Tikka issued from Gulberg Kitchen, once per order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Below reorder level → Material Request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All channels in Sales by Channel; reviews on the dashboard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1E293B"/>
                          </a:solidFill>
                          <a:latin typeface="Calibri"/>
                        </a:rPr>
                        <a:t>Unit tests (counter, offers, KDS, tables, tax, FBR, riders, online, kiosk, payments, loyalty, reviews, approvals)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E293B"/>
                          </a:solidFill>
                          <a:latin typeface="Calibri"/>
                        </a:rPr>
                        <a:t>36 pass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9 ·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  <a:latin typeface="Calibri"/>
              </a:rPr>
              <a:t>Open items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Restaurant OS · Functional Specification · v1.0 · 21 Oct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Credentials to go live: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FBR / PRA, Foodpanda, payment gateway, WhatsApp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Hardware: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receipt printer and KDS screen models; kitchen printers for per-station auto-print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Decision: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let cashiers pick manual POS Offers?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Production: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HTTPS server (rider GPS), workers, backups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Where hardware goes: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receipt printer — POS terminal → Printer; KDS — open /ros/kds on the kitchen screen and pick its station; kiosk — /ros/kiosk in full-screen; riders — /ros/rider on their phones</a:t>
            </a:r>
          </a:p>
          <a:p>
            <a:pPr>
              <a:spcAft>
                <a:spcPts val="1200"/>
              </a:spcAft>
            </a:pPr>
            <a:r>
              <a:rPr sz="1400" b="1" i="0">
                <a:solidFill>
                  <a:srgbClr val="0D9488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1E293B"/>
                </a:solidFill>
                <a:latin typeface="Calibri"/>
              </a:rPr>
              <a:t>Training videos: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 one simulator video per operation (separate files)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