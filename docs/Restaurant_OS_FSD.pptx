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0 shows Restaurant OS as a single process and every outside party that exchanges data with it. Customers, staff and riders use the React screens; Foodpanda, the payment gateway, FBR and WhatsApp connect through adapters.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1 decomposes process 0 into seven processes. Orders (D2) drive the kitchen, delivery, billing and stock; invoices (D3) drive loyalty points and FBR; stock (D4) and reviews (D5) feed analytics. Customer ratings arrive through the tracking page and the WhatsApp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E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99F6E4"/>
                </a:solidFill>
                <a:latin typeface="Calibri"/>
              </a:rPr>
              <a:t>FUNCTIONAL SPECIFICATION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Restaurant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D1FAF5"/>
                </a:solidFill>
                <a:latin typeface="Calibri"/>
              </a:rPr>
              <a:t>Automate the restaurant from one screen — orders, kitchen, riders, stock,</a:t>
            </a:r>
          </a:p>
          <a:p>
            <a:pPr algn="l"/>
            <a:r>
              <a:rPr sz="2000" b="0" i="0">
                <a:solidFill>
                  <a:srgbClr val="D1FAF5"/>
                </a:solidFill>
                <a:latin typeface="Calibri"/>
              </a:rPr>
              <a:t>reviews and reports on ERPNext v16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Includes Data Flow Diagrams — Level 0 (context) and Level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Version 1.0  ·  21 October 2026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Demo company: Saffron Grill (SGR) · Main branch: Gulberg branch at D-Ground, Faisalabad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566928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App: restaurant_os</a:t>
            </a:r>
          </a:p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Site: restaurant.localhost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ABOUT THIS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Document control &amp;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51206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Functional Specification (FSD)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1.0 — all 11 build phases complete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21 October 2026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OS (Frappe app restaurant_os)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ERPNext v16 · Frappe v16 · React 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Built, tested (37 automated tests)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Audience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Owner, managers, implementers, developers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1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Purpose, scope and users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2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System overview and the nine-step flow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3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Data Flow Diagram — Level 0 (context)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4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Data Flow Diagram — Level 1 (processes and data stores)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5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Functional requirements by module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6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Order state machine and business rules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7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Integrations, security and audit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8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Non-functional requirements and measured results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9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Acceptance criteria and open items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1 ·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Purpose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Calibri"/>
              </a:rPr>
              <a:t>This document specifies what Restaurant OS does: the functions each user gets, the data that moves between them, and the rules the system enforces. It describes the system as built and tested.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548640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Orders from POS counter, dine-in tables, website / app, self-order kiosk, phone and Foodpanda — one queue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Kitchen Display (KDS) by station; table map for dine-in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Own riders and Foodpanda riders; live tracking; cash on delivery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POS shifts, payments (cash, card, bank, online), FBR invoice reporting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Recipe-based stock deduction, wastage, variance, auto-reorder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Offers, coupons, loyalty points, reviews, campaigns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Owner dashboard and reports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57400"/>
            <a:ext cx="5440680" cy="4114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 of scope (this version)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60320"/>
            <a:ext cx="5440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Payroll and HR beyond rider check-in (standard ERPNext HRMS)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Kitchen printer auto-routing per station (field exists; awaits hardware)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Live provider calls for Foodpanda, WhatsApp, payment gateway, FBR — built as adapters in Mock mode until credentials arrive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Docker deployment — not required (owner decision); production via bench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Table reservations and online pre-booking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2 ·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One system, nine automatic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02920" y="1463040"/>
            <a:ext cx="1161288" cy="640080"/>
          </a:xfrm>
          <a:prstGeom prst="homePlate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Warehouse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inventory</a:t>
            </a:r>
          </a:p>
        </p:txBody>
      </p:sp>
      <p:sp>
        <p:nvSpPr>
          <p:cNvPr id="10" name="Chevron 9"/>
          <p:cNvSpPr/>
          <p:nvPr/>
        </p:nvSpPr>
        <p:spPr>
          <a:xfrm>
            <a:off x="1773936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11096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8216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Kitchen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inventory</a:t>
            </a:r>
          </a:p>
        </p:txBody>
      </p:sp>
      <p:sp>
        <p:nvSpPr>
          <p:cNvPr id="13" name="Chevron 12"/>
          <p:cNvSpPr/>
          <p:nvPr/>
        </p:nvSpPr>
        <p:spPr>
          <a:xfrm>
            <a:off x="3044952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2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Order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placed</a:t>
            </a:r>
          </a:p>
        </p:txBody>
      </p:sp>
      <p:sp>
        <p:nvSpPr>
          <p:cNvPr id="16" name="Chevron 15"/>
          <p:cNvSpPr/>
          <p:nvPr/>
        </p:nvSpPr>
        <p:spPr>
          <a:xfrm>
            <a:off x="4315968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128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Kitchen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display</a:t>
            </a:r>
          </a:p>
        </p:txBody>
      </p:sp>
      <p:sp>
        <p:nvSpPr>
          <p:cNvPr id="19" name="Chevron 18"/>
          <p:cNvSpPr/>
          <p:nvPr/>
        </p:nvSpPr>
        <p:spPr>
          <a:xfrm>
            <a:off x="5586984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Rider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notified</a:t>
            </a:r>
          </a:p>
        </p:txBody>
      </p:sp>
      <p:sp>
        <p:nvSpPr>
          <p:cNvPr id="22" name="Chevron 21"/>
          <p:cNvSpPr/>
          <p:nvPr/>
        </p:nvSpPr>
        <p:spPr>
          <a:xfrm>
            <a:off x="6858000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Delivered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8129016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Review</a:t>
            </a:r>
          </a:p>
        </p:txBody>
      </p:sp>
      <p:sp>
        <p:nvSpPr>
          <p:cNvPr id="28" name="Chevron 27"/>
          <p:cNvSpPr/>
          <p:nvPr/>
        </p:nvSpPr>
        <p:spPr>
          <a:xfrm>
            <a:off x="9400032" y="1463040"/>
            <a:ext cx="1161288" cy="640080"/>
          </a:xfrm>
          <a:prstGeom prst="chevron">
            <a:avLst/>
          </a:prstGeom>
          <a:solidFill>
            <a:srgbClr val="0B5E57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37192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Stock</a:t>
            </a:r>
          </a:p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auto-update</a:t>
            </a:r>
          </a:p>
        </p:txBody>
      </p:sp>
      <p:sp>
        <p:nvSpPr>
          <p:cNvPr id="31" name="Chevron 30"/>
          <p:cNvSpPr/>
          <p:nvPr/>
        </p:nvSpPr>
        <p:spPr>
          <a:xfrm>
            <a:off x="10671048" y="1463040"/>
            <a:ext cx="1161288" cy="64008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08208" y="1572768"/>
            <a:ext cx="88696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25328" y="2148840"/>
            <a:ext cx="1252728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0B5E57"/>
                </a:solidFill>
                <a:latin typeface="Calibri"/>
              </a:rPr>
              <a:t>Reports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880360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1–2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8803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Central Store and each branch kitchen are ERPNext warehouses; ingredients carry reorder levels on both.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310128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331012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Every channel creates a Restaurant Order with the channel, type (dine-in, takeaway, delivery, pickup) and lines routed to stations.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739896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7398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order appears on the KDS instantly (Socket.IO); cooks bump lines, the card moves Placed → Preparing → Ready.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69664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416966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At Ready, a delivery is offered to the nearest free rider (or assigned from the KDS / dispatch map).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99432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59943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Rider picks up, delivers with the customer's 4-digit code, collects cash; the invoice is made at delivery.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029200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5029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customer rates the order from the tracking link; low ratings alert managers.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458968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45896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When the food leaves the kitchen, the dish recipes (BOM) are issued from the kitchen warehouse; below reorder level ERPNext raises a Material Request.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888736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88873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Sales, kitchen times, menu engineering, customers, variance — live dashboard and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1 ·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Users, devices and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377440"/>
                <a:gridCol w="4480560"/>
                <a:gridCol w="28346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Device / screen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Main tasks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Access rule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Cashier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Counter PC — POS terminal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Open / close shift, sell, hold, return*, cash in/out, receive stock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On the counter's POS Profile user list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Customer at counter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2nd monitor — Customer display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Sees items, offers, total, change and FBR QR as the cashier rings up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None (mirrors the terminal on the same PC)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Waiter / host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Tablet — Table 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Seat guests, send rounds to kitchen, move table, settle bill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write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Kitchen staff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Wall screen — KDS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See tickets by station, bump lines, recall, assign rider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read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Dispatcher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PC — Dispatch 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orders, assign riders, collect rider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write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Rider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— Rider app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Go on duty, accept / reject, pick up, deliver (code, photo, cash)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Own deliveries only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/ web — Ordering site, tracking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Order, pay, track rider, rate order, earn points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Public, rate limited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Walk-in guest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Tablet — Kiosk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Self-order; pay at counter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Public, rate limited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Manager / owner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Any — Dashboard, 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Approve big discounts &amp; returns, reviews, campaigns, 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System / Sales / Accounts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897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* Returns and cashier discounts above 10% need a manager's sign-in at the terminal.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2 ·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System overview — how the parts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1051560"/>
          </a:xfrm>
          <a:prstGeom prst="rect">
            <a:avLst/>
          </a:prstGeom>
          <a:solidFill>
            <a:srgbClr val="EAF2FC"/>
          </a:solidFill>
          <a:ln w="15875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930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Users' screens (React, one app at /ros)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terminal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1312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Customer display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2544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Table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3776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5008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Dispatch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6240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Rider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7472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Ordering 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8704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Kiosk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09936" y="1618488"/>
            <a:ext cx="111150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Owner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880"/>
            <a:ext cx="11155680" cy="1051560"/>
          </a:xfrm>
          <a:prstGeom prst="rect">
            <a:avLst/>
          </a:prstGeom>
          <a:solidFill>
            <a:srgbClr val="E6F6F4"/>
          </a:solidFill>
          <a:ln w="1587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52374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5E57"/>
                </a:solidFill>
                <a:latin typeface="Calibri"/>
              </a:rPr>
              <a:t>restaurant_os — custom Frappe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Order service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3966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KDS &amp; tables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7852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Riders &amp; tracking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1738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Stock deduction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35624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Loyalty &amp; reviews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09510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Analytics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83396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Approvals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57282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Health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8FAFC"/>
          </a:solidFill>
          <a:ln w="15875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5818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ERPNext v16 + POS Awesome + HRMS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Invoice / Sales Invoice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13966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Shifts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7852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Offers &amp; Coupons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61738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BOM / Stock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35624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Material Request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09510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Loyalty Program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83396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Employee Checkin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57282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Payment Entry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937760"/>
            <a:ext cx="11155680" cy="1051560"/>
          </a:xfrm>
          <a:prstGeom prst="rect">
            <a:avLst/>
          </a:prstGeom>
          <a:solidFill>
            <a:srgbClr val="FDF0E9"/>
          </a:solidFill>
          <a:ln w="15875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99262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A6834"/>
                </a:solidFill>
                <a:latin typeface="Calibri"/>
              </a:rPr>
              <a:t>Integration adapters (Mock ↔ Live)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7852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35624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WhatsApp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83396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FBR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Live updates travel over Socket.IO (KDS, tables, dispatch, rider location). Background jobs run on Frappe workers in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Data Flow Diagram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194560" cy="82296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External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463040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A person or outside system that sends data in or receives data out (customer, rider, Foodpanda, FBR).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2194560" cy="82296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2.0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606040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Work the system does that changes data. Numbered: 0 for the whole system (Level 0), 1.0 … 7.0 in Level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2194560" cy="685800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94760"/>
            <a:ext cx="457200" cy="685800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7947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Data store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94760"/>
            <a:ext cx="219456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520" y="4480560"/>
            <a:ext cx="219456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49039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Data at rest — mapped to ERPNext / restaurant_os DocTypes (e.g. D2 Restaurant Orders).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120640"/>
            <a:ext cx="2011680" cy="0"/>
          </a:xfrm>
          <a:prstGeom prst="line">
            <a:avLst/>
          </a:prstGeom>
          <a:ln w="22225">
            <a:solidFill>
              <a:srgbClr val="1E293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1005840" y="47548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data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84632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Data moving between entities, processes and stores; the label names the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DFD Level 0 — context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1188720"/>
            <a:ext cx="2743200" cy="4892040"/>
          </a:xfrm>
          <a:prstGeom prst="roundRect">
            <a:avLst/>
          </a:prstGeom>
          <a:solidFill>
            <a:srgbClr val="0D9488"/>
          </a:solidFill>
          <a:ln w="254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27448" y="297180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33832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Restaurant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8888" y="388620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CFBF1"/>
                </a:solidFill>
                <a:latin typeface="Calibri"/>
              </a:rPr>
              <a:t>orders · kitchen · delivery</a:t>
            </a:r>
          </a:p>
          <a:p>
            <a:pPr algn="ctr"/>
            <a:r>
              <a:rPr sz="1100" b="0" i="0">
                <a:solidFill>
                  <a:srgbClr val="CCFBF1"/>
                </a:solidFill>
                <a:latin typeface="Calibri"/>
              </a:rPr>
              <a:t>billing · stock · loyalty ·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25880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Customer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web · app · kiosk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1591056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240280" y="1792224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14" name="TextBox 13"/>
          <p:cNvSpPr txBox="1"/>
          <p:nvPr/>
        </p:nvSpPr>
        <p:spPr>
          <a:xfrm>
            <a:off x="2331720" y="1316736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order, payment, 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819656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quote, tracking, receipt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32888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Cashier / Waiter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40280" y="2798064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18" name="Connector 17"/>
          <p:cNvCxnSpPr/>
          <p:nvPr/>
        </p:nvCxnSpPr>
        <p:spPr>
          <a:xfrm flipH="1">
            <a:off x="2240280" y="2999232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2331720" y="2523744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sale, shift, cash, table rounds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026664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receipt, bill, Z-report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739896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Kitchen staff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40280" y="4005072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H="1">
            <a:off x="2240280" y="4206240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2331720" y="3730752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bump, recall, rider pick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233672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tickets by station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46904"/>
            <a:ext cx="1828800" cy="7315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Rider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240280" y="5212080"/>
            <a:ext cx="248716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H="1">
            <a:off x="2240280" y="5413248"/>
            <a:ext cx="2487168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2331720" y="4937760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duty, GPS, delivered + cash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440680"/>
            <a:ext cx="2304288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delivery offer, route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1234440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Manager / Owner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470648" y="1463040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7470648" y="1664208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562088" y="1188720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settings, approvals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1691640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dashboard, alerts, reports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48672" y="2221992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7470648" y="2450592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>
            <a:off x="7470648" y="2651760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562088" y="2176272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orders (webhook)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2088" y="2679192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status, availability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48672" y="3209544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7470648" y="3438144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>
            <a:off x="7470648" y="3639312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7562088" y="3163824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paid / failed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3666744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payment session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48672" y="4197096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FBR (tax)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7470648" y="4425696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>
            <a:off x="7470648" y="4626864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7562088" y="4151376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FBR invoice no. + QR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2088" y="4654296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invoice data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48672" y="5184648"/>
            <a:ext cx="1828800" cy="65836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WhatsApp / SMS</a:t>
            </a:r>
          </a:p>
        </p:txBody>
      </p:sp>
      <p:cxnSp>
        <p:nvCxnSpPr>
          <p:cNvPr id="52" name="Connector 51"/>
          <p:cNvCxnSpPr/>
          <p:nvPr/>
        </p:nvCxnSpPr>
        <p:spPr>
          <a:xfrm flipH="1">
            <a:off x="7470648" y="5413248"/>
            <a:ext cx="247802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</p:cxnSp>
      <p:cxnSp>
        <p:nvCxnSpPr>
          <p:cNvPr id="53" name="Connector 52"/>
          <p:cNvCxnSpPr/>
          <p:nvPr/>
        </p:nvCxnSpPr>
        <p:spPr>
          <a:xfrm>
            <a:off x="7470648" y="5614416"/>
            <a:ext cx="2478024" cy="0"/>
          </a:xfrm>
          <a:prstGeom prst="line">
            <a:avLst/>
          </a:prstGeom>
          <a:ln w="19050">
            <a:solidFill>
              <a:srgbClr val="0D9488"/>
            </a:solidFill>
            <a:tailEnd type="triangle" w="med" len="med"/>
          </a:ln>
        </p:spPr>
      </p:cxnSp>
      <p:sp>
        <p:nvSpPr>
          <p:cNvPr id="54" name="TextBox 53"/>
          <p:cNvSpPr txBox="1"/>
          <p:nvPr/>
        </p:nvSpPr>
        <p:spPr>
          <a:xfrm>
            <a:off x="7562088" y="5138928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delivery reports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088" y="5641848"/>
            <a:ext cx="2295144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0B5E57"/>
                </a:solidFill>
                <a:latin typeface="Calibri"/>
              </a:rPr>
              <a:t>review link, campaign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6199632"/>
            <a:ext cx="8229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Grey arrows: data into the system  ·  Teal arrows: data out of the system  ·  Blue boxes: external entities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 — PROCESSES AND DATA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DFD Level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41732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1.0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Capture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41732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2.0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Kitchen (KDS)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1732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3.0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Deliver &amp;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310128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4.0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Bill, pay, report tax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3310128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5.0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Issue stock &amp; reorder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310128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6.0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Reviews &amp; loyalty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5440680"/>
            <a:ext cx="1874519" cy="713232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000" b="1" i="0">
                <a:solidFill>
                  <a:srgbClr val="0D9488"/>
                </a:solidFill>
                <a:latin typeface="Calibri"/>
              </a:rPr>
              <a:t>7.0</a:t>
            </a:r>
          </a:p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Analyse &amp;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2487168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487168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487168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Restaurant Orders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31720" y="248716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331720" y="2871216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66360" y="2487168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66360" y="2487168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487168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Menu &amp; recipes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66360" y="248716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66360" y="2871216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01000" y="2487168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0" y="2487168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487168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Riders, assignments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0" y="248716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001000" y="2871216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331720" y="4434840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3172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434840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Invoices, payments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331720" y="4434840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31720" y="481888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166360" y="4709160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66360" y="470916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709160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Stock ledger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166360" y="4709160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166360" y="509320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001000" y="4434840"/>
            <a:ext cx="1874519" cy="384048"/>
          </a:xfrm>
          <a:prstGeom prst="rect">
            <a:avLst/>
          </a:prstGeom>
          <a:solidFill>
            <a:srgbClr val="FDF0E9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434840"/>
            <a:ext cx="1371599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Customers, points, reviews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001000" y="4434840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01000" y="4818888"/>
            <a:ext cx="1874519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74320" y="105156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Customer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173736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Cashier / Waiter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42316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15468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84048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FBR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566928"/>
            <a:ext cx="1600200" cy="41148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Kitchen staff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287000" y="137160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Rider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87000" y="2743200"/>
            <a:ext cx="160020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WhatsApp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01000" y="5532120"/>
            <a:ext cx="187452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Manager / Owner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532120"/>
            <a:ext cx="1874520" cy="50292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Supplier / Store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874520" y="1303020"/>
            <a:ext cx="457200" cy="25146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1920240" y="1321308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cart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1874520" y="1911096"/>
            <a:ext cx="457200" cy="7772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7" name="TextBox 56"/>
          <p:cNvSpPr txBox="1"/>
          <p:nvPr/>
        </p:nvSpPr>
        <p:spPr>
          <a:xfrm>
            <a:off x="1828800" y="2007108"/>
            <a:ext cx="7315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sale, rounds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874520" y="2130552"/>
            <a:ext cx="731520" cy="544068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1856232" y="2692908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FP order</a:t>
            </a:r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1874520" y="1161288"/>
            <a:ext cx="6492240" cy="256032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61" name="TextBox 60"/>
          <p:cNvSpPr txBox="1"/>
          <p:nvPr/>
        </p:nvSpPr>
        <p:spPr>
          <a:xfrm>
            <a:off x="6903720" y="1051560"/>
            <a:ext cx="82296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live tracking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268979" y="2130552"/>
            <a:ext cx="0" cy="3566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2400299" y="2203704"/>
            <a:ext cx="6858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new order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4069079" y="2130552"/>
            <a:ext cx="1097281" cy="40233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65" name="TextBox 64"/>
          <p:cNvSpPr txBox="1"/>
          <p:nvPr/>
        </p:nvSpPr>
        <p:spPr>
          <a:xfrm>
            <a:off x="4480560" y="2185416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prices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206239" y="1773936"/>
            <a:ext cx="960121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67" name="TextBox 66"/>
          <p:cNvSpPr txBox="1"/>
          <p:nvPr/>
        </p:nvSpPr>
        <p:spPr>
          <a:xfrm>
            <a:off x="4480559" y="1517904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ticket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103620" y="978408"/>
            <a:ext cx="0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sp>
        <p:nvSpPr>
          <p:cNvPr id="69" name="TextBox 68"/>
          <p:cNvSpPr txBox="1"/>
          <p:nvPr/>
        </p:nvSpPr>
        <p:spPr>
          <a:xfrm>
            <a:off x="6195060" y="1024128"/>
            <a:ext cx="10058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tickets ⇄ bumps</a:t>
            </a:r>
          </a:p>
        </p:txBody>
      </p:sp>
      <p:cxnSp>
        <p:nvCxnSpPr>
          <p:cNvPr id="70" name="Connector 69"/>
          <p:cNvCxnSpPr/>
          <p:nvPr/>
        </p:nvCxnSpPr>
        <p:spPr>
          <a:xfrm flipH="1">
            <a:off x="4023359" y="2130552"/>
            <a:ext cx="1280161" cy="3566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71" name="TextBox 70"/>
          <p:cNvSpPr txBox="1"/>
          <p:nvPr/>
        </p:nvSpPr>
        <p:spPr>
          <a:xfrm>
            <a:off x="4983480" y="2331720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status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40879" y="1773936"/>
            <a:ext cx="960121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7178039" y="1517904"/>
            <a:ext cx="86868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ready delivery</a:t>
            </a:r>
          </a:p>
        </p:txBody>
      </p:sp>
      <p:cxnSp>
        <p:nvCxnSpPr>
          <p:cNvPr id="74" name="Connector 73"/>
          <p:cNvCxnSpPr/>
          <p:nvPr/>
        </p:nvCxnSpPr>
        <p:spPr>
          <a:xfrm flipV="1">
            <a:off x="9875519" y="1513332"/>
            <a:ext cx="411481" cy="150876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75" name="TextBox 74"/>
          <p:cNvSpPr txBox="1"/>
          <p:nvPr/>
        </p:nvSpPr>
        <p:spPr>
          <a:xfrm>
            <a:off x="9921239" y="1408176"/>
            <a:ext cx="41148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offer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9875519" y="1732788"/>
            <a:ext cx="411481" cy="15087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77" name="TextBox 76"/>
          <p:cNvSpPr txBox="1"/>
          <p:nvPr/>
        </p:nvSpPr>
        <p:spPr>
          <a:xfrm>
            <a:off x="9829799" y="1920240"/>
            <a:ext cx="9144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GPS, code, cash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938259" y="2130552"/>
            <a:ext cx="0" cy="3566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cxnSp>
        <p:nvCxnSpPr>
          <p:cNvPr id="79" name="Connector 78"/>
          <p:cNvCxnSpPr/>
          <p:nvPr/>
        </p:nvCxnSpPr>
        <p:spPr>
          <a:xfrm>
            <a:off x="3268979" y="2871216"/>
            <a:ext cx="0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0" name="TextBox 79"/>
          <p:cNvSpPr txBox="1"/>
          <p:nvPr/>
        </p:nvSpPr>
        <p:spPr>
          <a:xfrm>
            <a:off x="3314699" y="2980944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completed order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874520" y="3406140"/>
            <a:ext cx="457200" cy="16916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2" name="TextBox 81"/>
          <p:cNvSpPr txBox="1"/>
          <p:nvPr/>
        </p:nvSpPr>
        <p:spPr>
          <a:xfrm>
            <a:off x="1892808" y="3150108"/>
            <a:ext cx="6858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paid / failed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1874520" y="3867912"/>
            <a:ext cx="457200" cy="224028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1828800" y="4119372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invoice ⇄ FBR no.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268979" y="4023360"/>
            <a:ext cx="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6" name="TextBox 85"/>
          <p:cNvSpPr txBox="1"/>
          <p:nvPr/>
        </p:nvSpPr>
        <p:spPr>
          <a:xfrm>
            <a:off x="3314699" y="4133088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invoice, payment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931919" y="2871216"/>
            <a:ext cx="1508761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88" name="TextBox 87"/>
          <p:cNvSpPr txBox="1"/>
          <p:nvPr/>
        </p:nvSpPr>
        <p:spPr>
          <a:xfrm>
            <a:off x="4251959" y="3145536"/>
            <a:ext cx="100584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food left kitchen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103619" y="2871216"/>
            <a:ext cx="0" cy="43891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0" name="TextBox 89"/>
          <p:cNvSpPr txBox="1"/>
          <p:nvPr/>
        </p:nvSpPr>
        <p:spPr>
          <a:xfrm>
            <a:off x="6149339" y="2944368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recipe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103619" y="4023360"/>
            <a:ext cx="0" cy="68580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2" name="TextBox 91"/>
          <p:cNvSpPr txBox="1"/>
          <p:nvPr/>
        </p:nvSpPr>
        <p:spPr>
          <a:xfrm>
            <a:off x="6149339" y="4315968"/>
            <a:ext cx="86868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issue, wastage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2148840" y="4992624"/>
            <a:ext cx="3017520" cy="63093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4" name="TextBox 93"/>
          <p:cNvSpPr txBox="1"/>
          <p:nvPr/>
        </p:nvSpPr>
        <p:spPr>
          <a:xfrm>
            <a:off x="2057400" y="5166360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reorder request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4206239" y="4023360"/>
            <a:ext cx="3886201" cy="55778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96" name="TextBox 95"/>
          <p:cNvSpPr txBox="1"/>
          <p:nvPr/>
        </p:nvSpPr>
        <p:spPr>
          <a:xfrm>
            <a:off x="7132320" y="4105656"/>
            <a:ext cx="9601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invoice → points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8938259" y="4023360"/>
            <a:ext cx="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</p:cxnSp>
      <p:cxnSp>
        <p:nvCxnSpPr>
          <p:cNvPr id="98" name="Connector 97"/>
          <p:cNvCxnSpPr/>
          <p:nvPr/>
        </p:nvCxnSpPr>
        <p:spPr>
          <a:xfrm flipV="1">
            <a:off x="9875519" y="2994660"/>
            <a:ext cx="411481" cy="580644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99" name="TextBox 98"/>
          <p:cNvSpPr txBox="1"/>
          <p:nvPr/>
        </p:nvSpPr>
        <p:spPr>
          <a:xfrm>
            <a:off x="9921239" y="3227832"/>
            <a:ext cx="73152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review link</a:t>
            </a:r>
          </a:p>
        </p:txBody>
      </p:sp>
      <p:cxnSp>
        <p:nvCxnSpPr>
          <p:cNvPr id="100" name="Connector 99"/>
          <p:cNvCxnSpPr/>
          <p:nvPr/>
        </p:nvCxnSpPr>
        <p:spPr>
          <a:xfrm flipH="1">
            <a:off x="9875519" y="3246120"/>
            <a:ext cx="685801" cy="58521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101" name="TextBox 100"/>
          <p:cNvSpPr txBox="1"/>
          <p:nvPr/>
        </p:nvSpPr>
        <p:spPr>
          <a:xfrm>
            <a:off x="10012679" y="3849624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rating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268979" y="4818888"/>
            <a:ext cx="1897381" cy="886968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cxnSp>
        <p:nvCxnSpPr>
          <p:cNvPr id="103" name="Connector 102"/>
          <p:cNvCxnSpPr/>
          <p:nvPr/>
        </p:nvCxnSpPr>
        <p:spPr>
          <a:xfrm>
            <a:off x="6103619" y="5093208"/>
            <a:ext cx="0" cy="34747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cxnSp>
        <p:nvCxnSpPr>
          <p:cNvPr id="104" name="Connector 103"/>
          <p:cNvCxnSpPr/>
          <p:nvPr/>
        </p:nvCxnSpPr>
        <p:spPr>
          <a:xfrm flipH="1">
            <a:off x="7040879" y="4818888"/>
            <a:ext cx="1897380" cy="75895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cxnSp>
        <p:nvCxnSpPr>
          <p:cNvPr id="105" name="Connector 104"/>
          <p:cNvCxnSpPr/>
          <p:nvPr/>
        </p:nvCxnSpPr>
        <p:spPr>
          <a:xfrm flipV="1">
            <a:off x="7040879" y="5783580"/>
            <a:ext cx="960121" cy="150876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</p:cxnSp>
      <p:sp>
        <p:nvSpPr>
          <p:cNvPr id="106" name="TextBox 105"/>
          <p:cNvSpPr txBox="1"/>
          <p:nvPr/>
        </p:nvSpPr>
        <p:spPr>
          <a:xfrm>
            <a:off x="7132319" y="5980176"/>
            <a:ext cx="1051560" cy="201168"/>
          </a:xfrm>
          <a:prstGeom prst="rect">
            <a:avLst/>
          </a:prstGeom>
          <a:solidFill>
            <a:srgbClr val="FFFFFF"/>
          </a:solidFill>
        </p:spPr>
        <p:txBody>
          <a:bodyPr wrap="non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0B5E57"/>
                </a:solidFill>
                <a:latin typeface="Calibri"/>
              </a:rPr>
              <a:t>dashboard, reports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6263640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Orange: data stores (D1–D6) · Teal boxes: processes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Level 1 processes — inputs, outputs and where they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00400"/>
                <a:gridCol w="3108960"/>
                <a:gridCol w="31089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Outputs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Implemented in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1.0 Capture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Cart / counter sale / table round / Foodpanda order / phone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(D2), KDS ticket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api.pos, api.online, api.tables, api.riders.new_delivery_order, aggregators.foodpanda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2.0 Kitchen (KDS)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Tickets by station; cook bumps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Line &amp; order status, Ready event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api.kds, services.orders (state machine)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3.0 Deliver &amp; track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Ready delivery, rider GPS, delivery code,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Offer, assignment (D6), tracking page, COD into Rider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services.riders, api.riders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4.0 Bill, pay &amp; report tax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Completed order, payments, gateway result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POS / Sales Invoice, Payment Entry (D3), FBR invoice no. + QR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api.pos, services.delivery, services.payments, integrations.tax_authority.fbr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5.0 Issue stock &amp; reorder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Order left kitchen, recipe (D1), wastage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Stock Entry (D4), sold-out flags, Material Request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services.stock_deduction, services.availability, ERPNext reorder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6.0 Reviews &amp; loyalty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Invoice, rating, campaign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Loyalty points, Order Review, alerts, messages (D5)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services.loyalty, services.reviews, services.campaigns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7.0 Analyse &amp; report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D2–D5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Owner dashboard, 5 script 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services.analytics, report/*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Data stores — mapped to DocTypes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6126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DocTypes (ERPNext standard / restaurant_os custom)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D1 Menu, recipes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Dishes, prices, add-ons, recipes, stations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Item, Item Price, BOM · Menu Modifier Group, Kitchen Station, Restaurant Branch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D2 Restaurant Orders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Every order from every channel and its lines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(+ Item) · Restaurant Table, Floor Area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D3 Invoices &amp; payments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Bills, tenders, shifts, FBR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Invoice, Sales Invoice, Payment Entry, POS Opening / Closing Shift, POS Cash Movement, Integration Request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D4 Stock ledger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Ingredient moves and counts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Stock Entry, Stock Ledger Entry, Bin, Stock Reconciliation, Material Request · Wastage Log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D5 Customers, points, reviews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Profiles, loyalty, ratings, campaigns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Customer, Loyalty Program, Loyalty Point Entry · Order Review, Restaurant Campaign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D6 Riders &amp; assignments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Riders, duty, offers, GPS trail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Employee, Employee Checkin · Rider, Delivery Assignment, Rider Location Log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Order capture — every channel in one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POS counter sale creates the kitchen order on invoice submit (channel POS)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Dine-in: seat a table, send rounds (marked “+ New Items” on the KDS), move table, settle one bill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Website / installable app: menu with add-ons, sold-out hiding, delivery pin on map, delivery radius and minimum order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Kiosk: self-order, idle reset; waits as a held sale until the cashier takes payment (channel Kiosk)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Phone order: dispatcher enters customer, address and pin; cash on delivery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Foodpanda: webhook (signed) or simulator; invoiced when delivered; Foodpanda price list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Idempotent: a repeated post (client UUID / Foodpanda id) never creates a second order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FR-1.8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Quote = invoice: the customer sees exactly what will be billed (offers, tax, delivery fee, points)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POS terminal, shifts and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Open shift with counted float per payment mode; close with counted cash, variance, Z-report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Sell by touch / barcode / keyboard; hold &amp; resume; split tender Cash → Card → Bank Transfer; credit sale for named customers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Offline: sales queue on the device and sync once, idempotently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Sales tax 18% (on top of or included in price, by setting); FBR service fee line; FBR invoice no. and QR on receipt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Returns (whole / part) refund through the chosen mode — manager approval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Cashier discounts above 10% of the bill — manager approval; offers / coupons are pre-approved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 in / out (expense, deposit, customer receipt), stock receiving at the counter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FR-2.8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Receipt: company logo, 80 / 58 mm or A4, auto-print option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FR-2.9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Customer-facing display (/ros/display): live cart with dish photos and offers, amount to pay / change, thank-you with FBR QR; menu &amp; offers slideshow between customers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Kitchen display and dine-in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Board columns Placed → Preparing → Ready → Completed, live over Socket.IO, filter by station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Bump a line or the whole card; recall; print ticket; age colours (amber / red minutes) and sound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Lines no station makes (delivery fee) never hold an order back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Delivery cards show the rider; “Assign rider” lists on-duty riders and off-duty riders (check in &amp; assign)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Table map by floor area: free / occupied / bill, guests, running total; settle produces one invoice for the sitting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Delivery, riders and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Rider goes on / off duty = HR Employee Checkin (with GPS position)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At Ready, the order is offered to the nearest (or least busy) free rider; reject → next rider; manual mode available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Rider app: accept, navigate, pick up, deliver with the customer's 4-digit code or photo, collect cash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 collected sits in Rider Cash until handed over at the counter (journal into the open shift)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Dispatch map: riders and orders on OpenStreetMap, ETA, assign / reassign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Customer tracking page: steps, ETA, rider on map, delivery code, pay-now for failed online payments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Foodpanda-rider orders are tracked from Foodpanda's rider updates (own riders are not offered them)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Online payment, offers, loyalty, reviews, campaigns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Online payment through a gateway adapter; unpaid orders stay off the KDS; paid orders need nothing collected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POS Offers apply on every channel (e.g. free Raita with Karahi); promo codes (POS Coupon) at checkout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Saffron Rewards: 1 point per Rs 100, 1 point = Rs 1, 365-day expiry; customers with a mobile enrolled automatically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Points redeemable at the counter and online (lower COD / online charge)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After delivery, the tracking page asks for stars (overall, food, delivery, each dish) and a comment; WhatsApp link after a delay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Rating at or below 2 stars notifies managers and shows on the dashboard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Campaigns to Lapsed / New / Top spenders / Everyone with {name} {restaurant} {coupon} {link}; preview, then send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Inventory, recipes and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Each dish has a BOM recipe; add-ons that are items become their own lines and recipes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When food leaves the kitchen (Completed / Picked Up / Delivered) the recipe is issued from the branch kitchen warehouse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Failed issues are logged and retried hourly; never block the sale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Sold-out: an ingredient running out hides affected dishes on the web, kiosk and POS (and Foodpanda)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Wastage Log with reason → Material Issue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Variance report: theoretical (recipes) vs actual (counts) per ingredient, branch, period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Reorder levels on Central Store (purchase) and kitchen (transfer) → Material Requests → Purchase Orders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Owner dashboard and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Live dashboard: today vs yesterday (net, orders, ticket, food cost %), hourly sales, channels, top items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Open orders and late tickets, kitchen load by station, tables, riders, deliveries waiting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Low stock, sold-out dishes, wastage today, alerts (late orders, waiting deliveries, low ratings)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Reviews panel: 7-day average, recent reviews, low &amp; unanswered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Reports: Restaurant Sales Analysis (by channel, branch, item, category, hour, day part, cashier), Kitchen Performance, Menu Engineering, Customer Insights, Ingredient Variance — in React and the desk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6 ·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Order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Placed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Accepted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Preparing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288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34290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>
            <a:off x="50292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7315200" y="1051560"/>
            <a:ext cx="1554480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06040"/>
            <a:ext cx="155448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Picked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155448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Out for Delivery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154680"/>
            <a:ext cx="1554480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1371600"/>
            <a:ext cx="68580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5760720" y="10972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dine-in / takeaway / pickup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2286000"/>
            <a:ext cx="68580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1" name="TextBox 20"/>
          <p:cNvSpPr txBox="1"/>
          <p:nvPr/>
        </p:nvSpPr>
        <p:spPr>
          <a:xfrm>
            <a:off x="6035040" y="27432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delivery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92440" y="3246120"/>
            <a:ext cx="0" cy="54864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8869680" y="3611880"/>
            <a:ext cx="822960" cy="50292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8503920" y="38862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own rider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69680" y="2926080"/>
            <a:ext cx="82296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8595360" y="26517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Foodpanda rider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108960"/>
            <a:ext cx="1371600" cy="64008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EA6834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EA6834"/>
                </a:solidFill>
                <a:latin typeface="Calibri"/>
              </a:rPr>
              <a:t>Awaiting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Payment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1143000" y="2468880"/>
            <a:ext cx="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1188720" y="26517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paid online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3108960"/>
            <a:ext cx="237744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Cancelled / Rejected / Returned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4343400"/>
          <a:ext cx="6583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1089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Automatic step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Fires at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Offer to a rider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Ready (own-rider delivery)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Issue recipe ingredients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Completed / Picked Up / Delivered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Make invoice (web, phone, Foodpanda)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Delivered / Completed (counter: at sale)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Review link (WhatsApp)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Delivery delay after Delivered / Completed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6 ·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Business rules (owner decisions)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669280"/>
                <a:gridCol w="365760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Setting / value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Where to change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Sales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18%, added on top of the price (or included) — tick to apply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Payment modes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Cash → Credit Card → Bank Transfer (+ Online Payment)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Payment modes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Invoice mode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Invoice at the counter; merged into Sales Invoices at shift close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Stock deduction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 the background when food leaves the kitchen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Stock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Invoiced at Delivered; Foodpanda price list; delivered by Foodpanda riders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Manager approval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Cashier discount &gt; 10% of bill; every return / refund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Manager Approval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Fee Rs 150, minimum order Rs 500, radius per branch, OTP code optional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Settings / Restaurant Branch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Loyalty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1 pt per Rs 100, 1 pt = Rs 1, expires 365 days, online redemption 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Loyalty Program “Saffron Rewards”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Low rating alert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≤ 2 stars → managers notified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Reviews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Branches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Multi-branch; Gulberg is the main branch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Branch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7 ·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Integrations — adapters, Mock until credentials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834640"/>
                <a:gridCol w="27432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Partner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 go Live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Foodpanda (Delivery Hero)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Orders in (webhook); status &amp; availability 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simulator + signed webhook ready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API access, webhook secret, product mapping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Payment gateway (Safepay / PayFast / JazzCash / Easypaisa)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Hosted checkout out; paid / failed webhook in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built-in test payment page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Merchant account, keys, provider's checkout call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FBR (or PRA)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Invoice data out; FBR invoice number in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number and QR on receipts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ID, token, PRAL URL, PCT code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WhatsApp / SMS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Review links, campaigns out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logged as Integration Requests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Provider account, approved templates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Maps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Tiles in the browser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OpenStreetMap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Paid tiles / Google key for heavy traffic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Every call is logged as an Integration Request with its payload. Live webhooks require an HMAC-SHA256 signature; in Mock mode the payment webhook is closed and the Foodpanda webhook needs a signed-in manager.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8 ·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Non-functional requirements —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Measured (p95)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Order visible on KDS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1 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113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POS checkout (server)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300 ms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204 ms 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Online quote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500 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55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KDS board refresh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1 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16 ms 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Tracking page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300 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14300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Reliability: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offline POS with idempotent sync; idempotent webhooks; failed stock / FBR jobs retried hourly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Observability: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health endpoint, Frappe Error Log, Integration Request log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Deployability: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bench (no Docker — owner decision); production via bench setup production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Load test: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40 rounds of counter sale + online order, rolled back (tests/load.py)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7 ·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Security and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Server-side checks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 all 94 API methods — the screen never decides access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Counter: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only users on the POS Profile, or managers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Riders: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only their own deliveries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Public pages: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rate limited; prices recomputed on the server; orders reached by a random 12-character key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Manager approval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with password check, wrong-password lockout (5 per 10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Audit trail: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change history on orders, invoices, stock entries, reconciliations, offers, coupons, cash movements, payments, prices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Approvals noted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 the invoice: who approved, which cashier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Signed webhooks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(HMAC-SHA256) for payments and Foodpanda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Secrets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stored as Password fields, never returned by the API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9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Acceptance criteria — definition of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Calibri"/>
              </a:rPr>
              <a:t>A test order from each channel flows automatically through KDS → rider → delivered → review, deducts the right ingredients from the right kitchen warehouse, triggers reorder below threshold, and shows up in every report.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148840"/>
          <a:ext cx="1115567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55279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6 channels: POS, dine-in, web, kiosk, Foodpanda, phone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 — tests/test_e2e.py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On the KDS immediately (&lt; 1 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Own-rider deliveries offered at Ready, delivered with code and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Every order invoiced; every customer can rate; low rating alerts managers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0.35 kg chicken per Chicken Tikka issued from Gulberg Kitchen, once per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Below reorder level → Material Request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All channels in Sales by Channel; reviews on the dashboard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Unit tests (counter, offers, KDS, tables, tax, FBR, riders, online, kiosk, payments, loyalty, reviews, approvals)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36 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9 ·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Open items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Credentials to go live: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FBR / PRA, Foodpanda, payment gateway, WhatsApp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Hardware: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receipt printer and KDS screen models; kitchen printers for per-station auto-print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Decision: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let cashiers pick manual POS Offers?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Production: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HTTPS server (rider GPS), workers, backups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Where hardware goes: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receipt printer — POS terminal → Printer; customer display — terminal → Customer display (2nd monitor); KDS — /ros/kds on the kitchen screen, pick its station; kiosk — /ros/kiosk full-screen; riders — /ros/rider on their phones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Training videos: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one simulator video per operation (separate files)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